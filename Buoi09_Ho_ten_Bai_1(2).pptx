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78" y="2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09/10/2026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52100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09/10/2026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9882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09/10/2026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3840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09/10/2026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72932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09/10/2026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1175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09/10/2026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54287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09/10/2026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75822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322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33093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09/10/2026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8056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09/10/2026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18853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09/10/2026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3194728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6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0040" y="-219456"/>
            <a:ext cx="2331720" cy="1143000"/>
          </a:xfrm>
          <a:prstGeom prst="ellipse">
            <a:avLst/>
          </a:prstGeom>
          <a:solidFill>
            <a:srgbClr val="C4EB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274320"/>
            <a:ext cx="1554480" cy="182880"/>
          </a:xfrm>
          <a:prstGeom prst="rect">
            <a:avLst/>
          </a:prstGeom>
          <a:noFill/>
        </p:spPr>
        <p:txBody>
          <a:bodyPr wrap="square" lIns="27432" tIns="9144" rIns="27432" bIns="9144" anchor="t">
            <a:spAutoFit/>
          </a:bodyPr>
          <a:lstStyle/>
          <a:p>
            <a:pPr algn="l"/>
            <a:r>
              <a:rPr sz="800" b="1" i="0" u="none">
                <a:solidFill>
                  <a:srgbClr val="005A82"/>
                </a:solidFill>
                <a:latin typeface="Times New Roman"/>
              </a:rPr>
              <a:t>CANTHO UNIVERSITY</a:t>
            </a:r>
          </a:p>
        </p:txBody>
      </p:sp>
      <p:sp>
        <p:nvSpPr>
          <p:cNvPr id="5" name="Diamond 4"/>
          <p:cNvSpPr/>
          <p:nvPr/>
        </p:nvSpPr>
        <p:spPr>
          <a:xfrm>
            <a:off x="4389120" y="1170432"/>
            <a:ext cx="3383280" cy="3383280"/>
          </a:xfrm>
          <a:prstGeom prst="diamond">
            <a:avLst/>
          </a:prstGeom>
          <a:solidFill>
            <a:srgbClr val="4AC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iamond 5"/>
          <p:cNvSpPr/>
          <p:nvPr/>
        </p:nvSpPr>
        <p:spPr>
          <a:xfrm>
            <a:off x="4754880" y="1536192"/>
            <a:ext cx="2651760" cy="2651760"/>
          </a:xfrm>
          <a:prstGeom prst="diamond">
            <a:avLst/>
          </a:prstGeom>
          <a:solidFill>
            <a:srgbClr val="78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Diamond 6"/>
          <p:cNvSpPr/>
          <p:nvPr/>
        </p:nvSpPr>
        <p:spPr>
          <a:xfrm>
            <a:off x="5074920" y="1847088"/>
            <a:ext cx="2011680" cy="2011680"/>
          </a:xfrm>
          <a:prstGeom prst="diamond">
            <a:avLst/>
          </a:prstGeom>
          <a:solidFill>
            <a:srgbClr val="F1E0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965960"/>
            <a:ext cx="10360152" cy="1143000"/>
          </a:xfrm>
          <a:prstGeom prst="rect">
            <a:avLst/>
          </a:prstGeom>
          <a:noFill/>
        </p:spPr>
        <p:txBody>
          <a:bodyPr wrap="square" lIns="27432" tIns="9144" rIns="27432" bIns="9144" anchor="ctr">
            <a:spAutoFit/>
          </a:bodyPr>
          <a:lstStyle/>
          <a:p>
            <a:pPr algn="ctr"/>
            <a:r>
              <a:rPr sz="3800" b="1" i="0" u="none">
                <a:solidFill>
                  <a:srgbClr val="996633"/>
                </a:solidFill>
                <a:latin typeface="Times New Roman"/>
              </a:rPr>
              <a:t>BỐ CỤC MỘT BÀI THUYẾT
TRÌNH</a:t>
            </a:r>
          </a:p>
        </p:txBody>
      </p:sp>
      <p:sp>
        <p:nvSpPr>
          <p:cNvPr id="9" name="TextBox 8"/>
          <p:cNvSpPr txBox="1"/>
          <p:nvPr/>
        </p:nvSpPr>
        <p:spPr>
          <a:xfrm>
            <a:off x="2743200" y="3675887"/>
            <a:ext cx="6702552" cy="457200"/>
          </a:xfrm>
          <a:prstGeom prst="rect">
            <a:avLst/>
          </a:prstGeom>
          <a:noFill/>
        </p:spPr>
        <p:txBody>
          <a:bodyPr wrap="square" lIns="27432" tIns="9144" rIns="27432" bIns="9144" anchor="t">
            <a:spAutoFit/>
          </a:bodyPr>
          <a:lstStyle/>
          <a:p>
            <a:pPr algn="ctr"/>
            <a:r>
              <a:rPr sz="2700" b="1" i="0" u="none">
                <a:solidFill>
                  <a:srgbClr val="000000"/>
                </a:solidFill>
                <a:latin typeface="Times New Roman"/>
              </a:rPr>
              <a:t>ThS. Họ và Tên</a:t>
            </a:r>
          </a:p>
        </p:txBody>
      </p:sp>
      <p:sp>
        <p:nvSpPr>
          <p:cNvPr id="10" name="TextBox 9"/>
          <p:cNvSpPr txBox="1"/>
          <p:nvPr/>
        </p:nvSpPr>
        <p:spPr>
          <a:xfrm>
            <a:off x="6400800" y="5897880"/>
            <a:ext cx="5029200" cy="292608"/>
          </a:xfrm>
          <a:prstGeom prst="rect">
            <a:avLst/>
          </a:prstGeom>
          <a:noFill/>
        </p:spPr>
        <p:txBody>
          <a:bodyPr wrap="square" lIns="27432" tIns="9144" rIns="27432" bIns="9144" anchor="t">
            <a:spAutoFit/>
          </a:bodyPr>
          <a:lstStyle/>
          <a:p>
            <a:pPr algn="r"/>
            <a:r>
              <a:rPr sz="1300" b="1" i="0" u="none">
                <a:solidFill>
                  <a:srgbClr val="000000"/>
                </a:solidFill>
                <a:latin typeface="Times New Roman"/>
              </a:rPr>
              <a:t>Trích từ Tủ sách Khoa học VLOS</a:t>
            </a:r>
          </a:p>
        </p:txBody>
      </p:sp>
      <p:sp>
        <p:nvSpPr>
          <p:cNvPr id="11" name="TextBox 10"/>
          <p:cNvSpPr txBox="1"/>
          <p:nvPr/>
        </p:nvSpPr>
        <p:spPr>
          <a:xfrm>
            <a:off x="11155680" y="6016752"/>
            <a:ext cx="457200" cy="274320"/>
          </a:xfrm>
          <a:prstGeom prst="rect">
            <a:avLst/>
          </a:prstGeom>
          <a:noFill/>
        </p:spPr>
        <p:txBody>
          <a:bodyPr wrap="square" lIns="27432" tIns="9144" rIns="27432" bIns="9144" anchor="t">
            <a:spAutoFit/>
          </a:bodyPr>
          <a:lstStyle/>
          <a:p>
            <a:pPr algn="r"/>
            <a:r>
              <a:rPr sz="1400" b="0" i="0" u="none">
                <a:solidFill>
                  <a:srgbClr val="737373"/>
                </a:solidFill>
                <a:latin typeface="Times New Roman"/>
              </a:rPr>
              <a:t>1</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6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0040" y="-219456"/>
            <a:ext cx="2331720" cy="1143000"/>
          </a:xfrm>
          <a:prstGeom prst="ellipse">
            <a:avLst/>
          </a:prstGeom>
          <a:solidFill>
            <a:srgbClr val="C4EB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274320"/>
            <a:ext cx="1554480" cy="182880"/>
          </a:xfrm>
          <a:prstGeom prst="rect">
            <a:avLst/>
          </a:prstGeom>
          <a:noFill/>
        </p:spPr>
        <p:txBody>
          <a:bodyPr wrap="square" lIns="27432" tIns="9144" rIns="27432" bIns="9144" anchor="t">
            <a:spAutoFit/>
          </a:bodyPr>
          <a:lstStyle/>
          <a:p>
            <a:pPr algn="l"/>
            <a:r>
              <a:rPr sz="800" b="1" i="0" u="none">
                <a:solidFill>
                  <a:srgbClr val="005A82"/>
                </a:solidFill>
                <a:latin typeface="Times New Roman"/>
              </a:rPr>
              <a:t>CANTHO UNIVERSITY</a:t>
            </a:r>
          </a:p>
        </p:txBody>
      </p:sp>
      <p:sp>
        <p:nvSpPr>
          <p:cNvPr id="5" name="Rectangle 4"/>
          <p:cNvSpPr/>
          <p:nvPr/>
        </p:nvSpPr>
        <p:spPr>
          <a:xfrm>
            <a:off x="2148840" y="393192"/>
            <a:ext cx="9921240" cy="82296"/>
          </a:xfrm>
          <a:prstGeom prst="rect">
            <a:avLst/>
          </a:prstGeom>
          <a:solidFill>
            <a:srgbClr val="006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 y="283464"/>
            <a:ext cx="1737360" cy="182880"/>
          </a:xfrm>
          <a:prstGeom prst="rect">
            <a:avLst/>
          </a:prstGeom>
          <a:noFill/>
        </p:spPr>
        <p:txBody>
          <a:bodyPr wrap="square" lIns="27432" tIns="9144" rIns="27432" bIns="9144" anchor="t">
            <a:spAutoFit/>
          </a:bodyPr>
          <a:lstStyle/>
          <a:p>
            <a:pPr algn="l"/>
            <a:r>
              <a:rPr sz="800" b="1" i="0" u="none">
                <a:solidFill>
                  <a:srgbClr val="005A82"/>
                </a:solidFill>
                <a:latin typeface="Times New Roman"/>
              </a:rPr>
              <a:t>CANTHO UNIVERSITY</a:t>
            </a:r>
          </a:p>
        </p:txBody>
      </p:sp>
      <p:sp>
        <p:nvSpPr>
          <p:cNvPr id="7" name="TextBox 6"/>
          <p:cNvSpPr txBox="1"/>
          <p:nvPr/>
        </p:nvSpPr>
        <p:spPr>
          <a:xfrm>
            <a:off x="566928" y="713232"/>
            <a:ext cx="10972800" cy="566928"/>
          </a:xfrm>
          <a:prstGeom prst="rect">
            <a:avLst/>
          </a:prstGeom>
          <a:noFill/>
        </p:spPr>
        <p:txBody>
          <a:bodyPr wrap="square" lIns="27432" tIns="9144" rIns="27432" bIns="9144" anchor="t">
            <a:spAutoFit/>
          </a:bodyPr>
          <a:lstStyle/>
          <a:p>
            <a:pPr algn="l"/>
            <a:r>
              <a:rPr sz="2900" b="1" i="0" u="none">
                <a:solidFill>
                  <a:srgbClr val="996633"/>
                </a:solidFill>
                <a:latin typeface="Times New Roman"/>
              </a:rPr>
              <a:t>Giới thiệu</a:t>
            </a:r>
          </a:p>
        </p:txBody>
      </p:sp>
      <p:sp>
        <p:nvSpPr>
          <p:cNvPr id="8" name="TextBox 7"/>
          <p:cNvSpPr txBox="1"/>
          <p:nvPr/>
        </p:nvSpPr>
        <p:spPr>
          <a:xfrm>
            <a:off x="11155680" y="6016752"/>
            <a:ext cx="457200" cy="274320"/>
          </a:xfrm>
          <a:prstGeom prst="rect">
            <a:avLst/>
          </a:prstGeom>
          <a:noFill/>
        </p:spPr>
        <p:txBody>
          <a:bodyPr wrap="square" lIns="27432" tIns="9144" rIns="27432" bIns="9144" anchor="t">
            <a:spAutoFit/>
          </a:bodyPr>
          <a:lstStyle/>
          <a:p>
            <a:pPr algn="r"/>
            <a:r>
              <a:rPr sz="1400" b="0" i="0" u="none">
                <a:solidFill>
                  <a:srgbClr val="737373"/>
                </a:solidFill>
                <a:latin typeface="Times New Roman"/>
              </a:rPr>
              <a:t>2</a:t>
            </a:r>
          </a:p>
        </p:txBody>
      </p:sp>
      <p:sp>
        <p:nvSpPr>
          <p:cNvPr id="9" name="TextBox 8"/>
          <p:cNvSpPr txBox="1"/>
          <p:nvPr/>
        </p:nvSpPr>
        <p:spPr>
          <a:xfrm>
            <a:off x="713232" y="1627632"/>
            <a:ext cx="256032" cy="384048"/>
          </a:xfrm>
          <a:prstGeom prst="rect">
            <a:avLst/>
          </a:prstGeom>
          <a:noFill/>
        </p:spPr>
        <p:txBody>
          <a:bodyPr wrap="square" lIns="27432" tIns="9144" rIns="27432" bIns="9144" anchor="t">
            <a:spAutoFit/>
          </a:bodyPr>
          <a:lstStyle/>
          <a:p>
            <a:pPr algn="ctr"/>
            <a:r>
              <a:rPr sz="2200" b="0" i="0" u="none">
                <a:solidFill>
                  <a:srgbClr val="000000"/>
                </a:solidFill>
                <a:latin typeface="Times New Roman"/>
              </a:rPr>
              <a:t>•</a:t>
            </a:r>
          </a:p>
        </p:txBody>
      </p:sp>
      <p:sp>
        <p:nvSpPr>
          <p:cNvPr id="10" name="TextBox 9"/>
          <p:cNvSpPr txBox="1"/>
          <p:nvPr/>
        </p:nvSpPr>
        <p:spPr>
          <a:xfrm>
            <a:off x="987552" y="1627632"/>
            <a:ext cx="10058400" cy="384048"/>
          </a:xfrm>
          <a:prstGeom prst="rect">
            <a:avLst/>
          </a:prstGeom>
          <a:noFill/>
        </p:spPr>
        <p:txBody>
          <a:bodyPr wrap="square" lIns="27432" tIns="9144" rIns="27432" bIns="9144" anchor="t">
            <a:spAutoFit/>
          </a:bodyPr>
          <a:lstStyle/>
          <a:p>
            <a:pPr algn="l"/>
            <a:r>
              <a:rPr sz="2200" b="0" i="0" u="none">
                <a:solidFill>
                  <a:srgbClr val="000000"/>
                </a:solidFill>
                <a:latin typeface="Times New Roman"/>
              </a:rPr>
              <a:t>Phần mở đầu</a:t>
            </a:r>
          </a:p>
        </p:txBody>
      </p:sp>
      <p:sp>
        <p:nvSpPr>
          <p:cNvPr id="11" name="TextBox 10"/>
          <p:cNvSpPr txBox="1"/>
          <p:nvPr/>
        </p:nvSpPr>
        <p:spPr>
          <a:xfrm>
            <a:off x="1371600" y="2048256"/>
            <a:ext cx="256032" cy="365760"/>
          </a:xfrm>
          <a:prstGeom prst="rect">
            <a:avLst/>
          </a:prstGeom>
          <a:noFill/>
        </p:spPr>
        <p:txBody>
          <a:bodyPr wrap="square" lIns="27432" tIns="9144" rIns="27432" bIns="9144" anchor="t">
            <a:spAutoFit/>
          </a:bodyPr>
          <a:lstStyle/>
          <a:p>
            <a:pPr algn="ctr"/>
            <a:r>
              <a:rPr sz="1800" b="0" i="0" u="none">
                <a:solidFill>
                  <a:srgbClr val="000000"/>
                </a:solidFill>
                <a:latin typeface="Times New Roman"/>
              </a:rPr>
              <a:t>–</a:t>
            </a:r>
          </a:p>
        </p:txBody>
      </p:sp>
      <p:sp>
        <p:nvSpPr>
          <p:cNvPr id="12" name="TextBox 11"/>
          <p:cNvSpPr txBox="1"/>
          <p:nvPr/>
        </p:nvSpPr>
        <p:spPr>
          <a:xfrm>
            <a:off x="1645920" y="2048256"/>
            <a:ext cx="9308592" cy="365760"/>
          </a:xfrm>
          <a:prstGeom prst="rect">
            <a:avLst/>
          </a:prstGeom>
          <a:noFill/>
        </p:spPr>
        <p:txBody>
          <a:bodyPr wrap="square" lIns="27432" tIns="9144" rIns="27432" bIns="9144" anchor="t">
            <a:spAutoFit/>
          </a:bodyPr>
          <a:lstStyle/>
          <a:p>
            <a:pPr algn="l"/>
            <a:r>
              <a:rPr sz="1800" b="0" i="0" u="none">
                <a:solidFill>
                  <a:srgbClr val="000000"/>
                </a:solidFill>
                <a:latin typeface="Times New Roman"/>
              </a:rPr>
              <a:t>Cần đạt được mục đích</a:t>
            </a:r>
          </a:p>
        </p:txBody>
      </p:sp>
      <p:sp>
        <p:nvSpPr>
          <p:cNvPr id="13" name="TextBox 12"/>
          <p:cNvSpPr txBox="1"/>
          <p:nvPr/>
        </p:nvSpPr>
        <p:spPr>
          <a:xfrm>
            <a:off x="713232" y="2615184"/>
            <a:ext cx="256032" cy="384048"/>
          </a:xfrm>
          <a:prstGeom prst="rect">
            <a:avLst/>
          </a:prstGeom>
          <a:noFill/>
        </p:spPr>
        <p:txBody>
          <a:bodyPr wrap="square" lIns="27432" tIns="9144" rIns="27432" bIns="9144" anchor="t">
            <a:spAutoFit/>
          </a:bodyPr>
          <a:lstStyle/>
          <a:p>
            <a:pPr algn="ctr"/>
            <a:r>
              <a:rPr sz="2200" b="0" i="0" u="none">
                <a:solidFill>
                  <a:srgbClr val="000000"/>
                </a:solidFill>
                <a:latin typeface="Times New Roman"/>
              </a:rPr>
              <a:t>•</a:t>
            </a:r>
          </a:p>
        </p:txBody>
      </p:sp>
      <p:sp>
        <p:nvSpPr>
          <p:cNvPr id="14" name="TextBox 13"/>
          <p:cNvSpPr txBox="1"/>
          <p:nvPr/>
        </p:nvSpPr>
        <p:spPr>
          <a:xfrm>
            <a:off x="987552" y="2615184"/>
            <a:ext cx="10058400" cy="384048"/>
          </a:xfrm>
          <a:prstGeom prst="rect">
            <a:avLst/>
          </a:prstGeom>
          <a:noFill/>
        </p:spPr>
        <p:txBody>
          <a:bodyPr wrap="square" lIns="27432" tIns="9144" rIns="27432" bIns="9144" anchor="t">
            <a:spAutoFit/>
          </a:bodyPr>
          <a:lstStyle/>
          <a:p>
            <a:pPr algn="l"/>
            <a:r>
              <a:rPr sz="2200" b="0" i="0" u="none">
                <a:solidFill>
                  <a:srgbClr val="000000"/>
                </a:solidFill>
                <a:latin typeface="Times New Roman"/>
              </a:rPr>
              <a:t>Phần chính</a:t>
            </a:r>
          </a:p>
        </p:txBody>
      </p:sp>
      <p:sp>
        <p:nvSpPr>
          <p:cNvPr id="15" name="TextBox 14"/>
          <p:cNvSpPr txBox="1"/>
          <p:nvPr/>
        </p:nvSpPr>
        <p:spPr>
          <a:xfrm>
            <a:off x="1371600" y="3035808"/>
            <a:ext cx="256032" cy="365760"/>
          </a:xfrm>
          <a:prstGeom prst="rect">
            <a:avLst/>
          </a:prstGeom>
          <a:noFill/>
        </p:spPr>
        <p:txBody>
          <a:bodyPr wrap="square" lIns="27432" tIns="9144" rIns="27432" bIns="9144" anchor="t">
            <a:spAutoFit/>
          </a:bodyPr>
          <a:lstStyle/>
          <a:p>
            <a:pPr algn="ctr"/>
            <a:r>
              <a:rPr sz="1800" b="0" i="0" u="none">
                <a:solidFill>
                  <a:srgbClr val="000000"/>
                </a:solidFill>
                <a:latin typeface="Times New Roman"/>
              </a:rPr>
              <a:t>–</a:t>
            </a:r>
          </a:p>
        </p:txBody>
      </p:sp>
      <p:sp>
        <p:nvSpPr>
          <p:cNvPr id="16" name="TextBox 15"/>
          <p:cNvSpPr txBox="1"/>
          <p:nvPr/>
        </p:nvSpPr>
        <p:spPr>
          <a:xfrm>
            <a:off x="1645920" y="3035808"/>
            <a:ext cx="9308592" cy="365760"/>
          </a:xfrm>
          <a:prstGeom prst="rect">
            <a:avLst/>
          </a:prstGeom>
          <a:noFill/>
        </p:spPr>
        <p:txBody>
          <a:bodyPr wrap="square" lIns="27432" tIns="9144" rIns="27432" bIns="9144" anchor="t">
            <a:spAutoFit/>
          </a:bodyPr>
          <a:lstStyle/>
          <a:p>
            <a:pPr algn="l"/>
            <a:r>
              <a:rPr sz="1800" b="0" i="0" u="none">
                <a:solidFill>
                  <a:srgbClr val="000000"/>
                </a:solidFill>
                <a:latin typeface="Times New Roman"/>
              </a:rPr>
              <a:t>Đưa ra giải pháp, ý kiến</a:t>
            </a:r>
          </a:p>
        </p:txBody>
      </p:sp>
      <p:sp>
        <p:nvSpPr>
          <p:cNvPr id="17" name="TextBox 16"/>
          <p:cNvSpPr txBox="1"/>
          <p:nvPr/>
        </p:nvSpPr>
        <p:spPr>
          <a:xfrm>
            <a:off x="713232" y="3611880"/>
            <a:ext cx="256032" cy="384048"/>
          </a:xfrm>
          <a:prstGeom prst="rect">
            <a:avLst/>
          </a:prstGeom>
          <a:noFill/>
        </p:spPr>
        <p:txBody>
          <a:bodyPr wrap="square" lIns="27432" tIns="9144" rIns="27432" bIns="9144" anchor="t">
            <a:spAutoFit/>
          </a:bodyPr>
          <a:lstStyle/>
          <a:p>
            <a:pPr algn="ctr"/>
            <a:r>
              <a:rPr sz="2200" b="0" i="0" u="none">
                <a:solidFill>
                  <a:srgbClr val="000000"/>
                </a:solidFill>
                <a:latin typeface="Times New Roman"/>
              </a:rPr>
              <a:t>•</a:t>
            </a:r>
          </a:p>
        </p:txBody>
      </p:sp>
      <p:sp>
        <p:nvSpPr>
          <p:cNvPr id="18" name="TextBox 17"/>
          <p:cNvSpPr txBox="1"/>
          <p:nvPr/>
        </p:nvSpPr>
        <p:spPr>
          <a:xfrm>
            <a:off x="987552" y="3611880"/>
            <a:ext cx="10058400" cy="384048"/>
          </a:xfrm>
          <a:prstGeom prst="rect">
            <a:avLst/>
          </a:prstGeom>
          <a:noFill/>
        </p:spPr>
        <p:txBody>
          <a:bodyPr wrap="square" lIns="27432" tIns="9144" rIns="27432" bIns="9144" anchor="t">
            <a:spAutoFit/>
          </a:bodyPr>
          <a:lstStyle/>
          <a:p>
            <a:pPr algn="l"/>
            <a:r>
              <a:rPr sz="2200" b="0" i="0" u="none">
                <a:solidFill>
                  <a:srgbClr val="000000"/>
                </a:solidFill>
                <a:latin typeface="Times New Roman"/>
              </a:rPr>
              <a:t>Phần kết</a:t>
            </a:r>
          </a:p>
        </p:txBody>
      </p:sp>
      <p:sp>
        <p:nvSpPr>
          <p:cNvPr id="19" name="TextBox 18"/>
          <p:cNvSpPr txBox="1"/>
          <p:nvPr/>
        </p:nvSpPr>
        <p:spPr>
          <a:xfrm>
            <a:off x="1371600" y="4041648"/>
            <a:ext cx="256032" cy="365760"/>
          </a:xfrm>
          <a:prstGeom prst="rect">
            <a:avLst/>
          </a:prstGeom>
          <a:noFill/>
        </p:spPr>
        <p:txBody>
          <a:bodyPr wrap="square" lIns="27432" tIns="9144" rIns="27432" bIns="9144" anchor="t">
            <a:spAutoFit/>
          </a:bodyPr>
          <a:lstStyle/>
          <a:p>
            <a:pPr algn="ctr"/>
            <a:r>
              <a:rPr sz="1800" b="0" i="0" u="none">
                <a:solidFill>
                  <a:srgbClr val="000000"/>
                </a:solidFill>
                <a:latin typeface="Times New Roman"/>
              </a:rPr>
              <a:t>–</a:t>
            </a:r>
          </a:p>
        </p:txBody>
      </p:sp>
      <p:sp>
        <p:nvSpPr>
          <p:cNvPr id="20" name="TextBox 19"/>
          <p:cNvSpPr txBox="1"/>
          <p:nvPr/>
        </p:nvSpPr>
        <p:spPr>
          <a:xfrm>
            <a:off x="1645920" y="4041648"/>
            <a:ext cx="9308592" cy="365760"/>
          </a:xfrm>
          <a:prstGeom prst="rect">
            <a:avLst/>
          </a:prstGeom>
          <a:noFill/>
        </p:spPr>
        <p:txBody>
          <a:bodyPr wrap="square" lIns="27432" tIns="9144" rIns="27432" bIns="9144" anchor="t">
            <a:spAutoFit/>
          </a:bodyPr>
          <a:lstStyle/>
          <a:p>
            <a:pPr algn="l"/>
            <a:r>
              <a:rPr sz="1800" b="0" i="0" u="none">
                <a:solidFill>
                  <a:srgbClr val="000000"/>
                </a:solidFill>
                <a:latin typeface="Times New Roman"/>
              </a:rPr>
              <a:t>Tóm tắt các nội dung đã được trình bày</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6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0040" y="-219456"/>
            <a:ext cx="2331720" cy="1143000"/>
          </a:xfrm>
          <a:prstGeom prst="ellipse">
            <a:avLst/>
          </a:prstGeom>
          <a:solidFill>
            <a:srgbClr val="C4EB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274320"/>
            <a:ext cx="1554480" cy="182880"/>
          </a:xfrm>
          <a:prstGeom prst="rect">
            <a:avLst/>
          </a:prstGeom>
          <a:noFill/>
        </p:spPr>
        <p:txBody>
          <a:bodyPr wrap="square" lIns="27432" tIns="9144" rIns="27432" bIns="9144" anchor="t">
            <a:spAutoFit/>
          </a:bodyPr>
          <a:lstStyle/>
          <a:p>
            <a:pPr algn="l"/>
            <a:r>
              <a:rPr sz="800" b="1" i="0" u="none">
                <a:solidFill>
                  <a:srgbClr val="005A82"/>
                </a:solidFill>
                <a:latin typeface="Times New Roman"/>
              </a:rPr>
              <a:t>CANTHO UNIVERSITY</a:t>
            </a:r>
          </a:p>
        </p:txBody>
      </p:sp>
      <p:sp>
        <p:nvSpPr>
          <p:cNvPr id="5" name="Rectangle 4"/>
          <p:cNvSpPr/>
          <p:nvPr/>
        </p:nvSpPr>
        <p:spPr>
          <a:xfrm>
            <a:off x="2148840" y="393192"/>
            <a:ext cx="9921240" cy="82296"/>
          </a:xfrm>
          <a:prstGeom prst="rect">
            <a:avLst/>
          </a:prstGeom>
          <a:solidFill>
            <a:srgbClr val="006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 y="283464"/>
            <a:ext cx="1737360" cy="182880"/>
          </a:xfrm>
          <a:prstGeom prst="rect">
            <a:avLst/>
          </a:prstGeom>
          <a:noFill/>
        </p:spPr>
        <p:txBody>
          <a:bodyPr wrap="square" lIns="27432" tIns="9144" rIns="27432" bIns="9144" anchor="t">
            <a:spAutoFit/>
          </a:bodyPr>
          <a:lstStyle/>
          <a:p>
            <a:pPr algn="l"/>
            <a:r>
              <a:rPr sz="800" b="1" i="0" u="none">
                <a:solidFill>
                  <a:srgbClr val="005A82"/>
                </a:solidFill>
                <a:latin typeface="Times New Roman"/>
              </a:rPr>
              <a:t>CANTHO UNIVERSITY</a:t>
            </a:r>
          </a:p>
        </p:txBody>
      </p:sp>
      <p:sp>
        <p:nvSpPr>
          <p:cNvPr id="7" name="TextBox 6"/>
          <p:cNvSpPr txBox="1"/>
          <p:nvPr/>
        </p:nvSpPr>
        <p:spPr>
          <a:xfrm>
            <a:off x="566928" y="713232"/>
            <a:ext cx="10972800" cy="566928"/>
          </a:xfrm>
          <a:prstGeom prst="rect">
            <a:avLst/>
          </a:prstGeom>
          <a:noFill/>
        </p:spPr>
        <p:txBody>
          <a:bodyPr wrap="square" lIns="27432" tIns="9144" rIns="27432" bIns="9144" anchor="t">
            <a:spAutoFit/>
          </a:bodyPr>
          <a:lstStyle/>
          <a:p>
            <a:pPr algn="l"/>
            <a:r>
              <a:rPr sz="2900" b="1" i="0" u="none">
                <a:solidFill>
                  <a:srgbClr val="996633"/>
                </a:solidFill>
                <a:latin typeface="Times New Roman"/>
              </a:rPr>
              <a:t>Phần mở đầu</a:t>
            </a:r>
          </a:p>
        </p:txBody>
      </p:sp>
      <p:sp>
        <p:nvSpPr>
          <p:cNvPr id="8" name="TextBox 7"/>
          <p:cNvSpPr txBox="1"/>
          <p:nvPr/>
        </p:nvSpPr>
        <p:spPr>
          <a:xfrm>
            <a:off x="11155680" y="6016752"/>
            <a:ext cx="457200" cy="274320"/>
          </a:xfrm>
          <a:prstGeom prst="rect">
            <a:avLst/>
          </a:prstGeom>
          <a:noFill/>
        </p:spPr>
        <p:txBody>
          <a:bodyPr wrap="square" lIns="27432" tIns="9144" rIns="27432" bIns="9144" anchor="t">
            <a:spAutoFit/>
          </a:bodyPr>
          <a:lstStyle/>
          <a:p>
            <a:pPr algn="r"/>
            <a:r>
              <a:rPr sz="1400" b="0" i="0" u="none">
                <a:solidFill>
                  <a:srgbClr val="737373"/>
                </a:solidFill>
                <a:latin typeface="Times New Roman"/>
              </a:rPr>
              <a:t>3</a:t>
            </a:r>
          </a:p>
        </p:txBody>
      </p:sp>
      <p:sp>
        <p:nvSpPr>
          <p:cNvPr id="9" name="TextBox 8"/>
          <p:cNvSpPr txBox="1"/>
          <p:nvPr/>
        </p:nvSpPr>
        <p:spPr>
          <a:xfrm>
            <a:off x="713232" y="1417320"/>
            <a:ext cx="256032" cy="329184"/>
          </a:xfrm>
          <a:prstGeom prst="rect">
            <a:avLst/>
          </a:prstGeom>
          <a:noFill/>
        </p:spPr>
        <p:txBody>
          <a:bodyPr wrap="square" lIns="27432" tIns="9144" rIns="27432" bIns="9144" anchor="t">
            <a:spAutoFit/>
          </a:bodyPr>
          <a:lstStyle/>
          <a:p>
            <a:pPr algn="ctr"/>
            <a:r>
              <a:rPr sz="2000" b="0" i="0" u="none">
                <a:solidFill>
                  <a:srgbClr val="000000"/>
                </a:solidFill>
                <a:latin typeface="Times New Roman"/>
              </a:rPr>
              <a:t>•</a:t>
            </a:r>
          </a:p>
        </p:txBody>
      </p:sp>
      <p:sp>
        <p:nvSpPr>
          <p:cNvPr id="10" name="TextBox 9"/>
          <p:cNvSpPr txBox="1"/>
          <p:nvPr/>
        </p:nvSpPr>
        <p:spPr>
          <a:xfrm>
            <a:off x="987552" y="1417320"/>
            <a:ext cx="10241280" cy="329184"/>
          </a:xfrm>
          <a:prstGeom prst="rect">
            <a:avLst/>
          </a:prstGeom>
          <a:noFill/>
        </p:spPr>
        <p:txBody>
          <a:bodyPr wrap="square" lIns="27432" tIns="9144" rIns="27432" bIns="9144" anchor="t">
            <a:spAutoFit/>
          </a:bodyPr>
          <a:lstStyle/>
          <a:p>
            <a:pPr algn="l"/>
            <a:r>
              <a:rPr sz="2000" b="0" i="0" u="none">
                <a:solidFill>
                  <a:srgbClr val="000000"/>
                </a:solidFill>
                <a:latin typeface="Times New Roman"/>
              </a:rPr>
              <a:t>Thu hút sự chú ý của người nghe</a:t>
            </a:r>
          </a:p>
        </p:txBody>
      </p:sp>
      <p:sp>
        <p:nvSpPr>
          <p:cNvPr id="11" name="TextBox 10"/>
          <p:cNvSpPr txBox="1"/>
          <p:nvPr/>
        </p:nvSpPr>
        <p:spPr>
          <a:xfrm>
            <a:off x="1389888" y="1801368"/>
            <a:ext cx="256032" cy="292608"/>
          </a:xfrm>
          <a:prstGeom prst="rect">
            <a:avLst/>
          </a:prstGeom>
          <a:noFill/>
        </p:spPr>
        <p:txBody>
          <a:bodyPr wrap="square" lIns="27432" tIns="9144" rIns="27432" bIns="9144" anchor="t">
            <a:spAutoFit/>
          </a:bodyPr>
          <a:lstStyle/>
          <a:p>
            <a:pPr algn="ctr"/>
            <a:r>
              <a:rPr sz="1800" b="0" i="0" u="none">
                <a:solidFill>
                  <a:srgbClr val="0066B4"/>
                </a:solidFill>
                <a:latin typeface="Times New Roman"/>
              </a:rPr>
              <a:t>–</a:t>
            </a:r>
          </a:p>
        </p:txBody>
      </p:sp>
      <p:sp>
        <p:nvSpPr>
          <p:cNvPr id="12" name="TextBox 11">
            <a:hlinkClick r:id="rId3" action="ppaction://hlinksldjump"/>
          </p:cNvPr>
          <p:cNvSpPr txBox="1"/>
          <p:nvPr/>
        </p:nvSpPr>
        <p:spPr>
          <a:xfrm>
            <a:off x="1664208" y="1801368"/>
            <a:ext cx="9308592" cy="292608"/>
          </a:xfrm>
          <a:prstGeom prst="rect">
            <a:avLst/>
          </a:prstGeom>
          <a:noFill/>
        </p:spPr>
        <p:txBody>
          <a:bodyPr wrap="square" lIns="27432" tIns="9144" rIns="27432" bIns="9144" anchor="t">
            <a:spAutoFit/>
          </a:bodyPr>
          <a:lstStyle/>
          <a:p>
            <a:pPr algn="l"/>
            <a:r>
              <a:rPr sz="1800" b="0" i="0" u="sng">
                <a:solidFill>
                  <a:srgbClr val="0066B4"/>
                </a:solidFill>
                <a:latin typeface="Times New Roman"/>
              </a:rPr>
              <a:t>Sử dụng một đoạn trích dẫn</a:t>
            </a:r>
          </a:p>
        </p:txBody>
      </p:sp>
      <p:sp>
        <p:nvSpPr>
          <p:cNvPr id="13" name="TextBox 12"/>
          <p:cNvSpPr txBox="1"/>
          <p:nvPr/>
        </p:nvSpPr>
        <p:spPr>
          <a:xfrm>
            <a:off x="1389888" y="2148840"/>
            <a:ext cx="256032" cy="292608"/>
          </a:xfrm>
          <a:prstGeom prst="rect">
            <a:avLst/>
          </a:prstGeom>
          <a:noFill/>
        </p:spPr>
        <p:txBody>
          <a:bodyPr wrap="square" lIns="27432" tIns="9144" rIns="27432" bIns="9144" anchor="t">
            <a:spAutoFit/>
          </a:bodyPr>
          <a:lstStyle/>
          <a:p>
            <a:pPr algn="ctr"/>
            <a:r>
              <a:rPr sz="1800" b="0" i="0" u="none">
                <a:solidFill>
                  <a:srgbClr val="000000"/>
                </a:solidFill>
                <a:latin typeface="Times New Roman"/>
              </a:rPr>
              <a:t>–</a:t>
            </a:r>
          </a:p>
        </p:txBody>
      </p:sp>
      <p:sp>
        <p:nvSpPr>
          <p:cNvPr id="14" name="TextBox 13"/>
          <p:cNvSpPr txBox="1"/>
          <p:nvPr/>
        </p:nvSpPr>
        <p:spPr>
          <a:xfrm>
            <a:off x="1664208" y="2148840"/>
            <a:ext cx="9308592" cy="292608"/>
          </a:xfrm>
          <a:prstGeom prst="rect">
            <a:avLst/>
          </a:prstGeom>
          <a:noFill/>
        </p:spPr>
        <p:txBody>
          <a:bodyPr wrap="square" lIns="27432" tIns="9144" rIns="27432" bIns="9144" anchor="t">
            <a:spAutoFit/>
          </a:bodyPr>
          <a:lstStyle/>
          <a:p>
            <a:pPr algn="l"/>
            <a:r>
              <a:rPr sz="1800" b="0" i="0" u="none">
                <a:solidFill>
                  <a:srgbClr val="000000"/>
                </a:solidFill>
                <a:latin typeface="Times New Roman"/>
              </a:rPr>
              <a:t>Một câu hỏi</a:t>
            </a:r>
          </a:p>
        </p:txBody>
      </p:sp>
      <p:sp>
        <p:nvSpPr>
          <p:cNvPr id="15" name="TextBox 14"/>
          <p:cNvSpPr txBox="1"/>
          <p:nvPr/>
        </p:nvSpPr>
        <p:spPr>
          <a:xfrm>
            <a:off x="1389888" y="2496312"/>
            <a:ext cx="256032" cy="292608"/>
          </a:xfrm>
          <a:prstGeom prst="rect">
            <a:avLst/>
          </a:prstGeom>
          <a:noFill/>
        </p:spPr>
        <p:txBody>
          <a:bodyPr wrap="square" lIns="27432" tIns="9144" rIns="27432" bIns="9144" anchor="t">
            <a:spAutoFit/>
          </a:bodyPr>
          <a:lstStyle/>
          <a:p>
            <a:pPr algn="ctr"/>
            <a:r>
              <a:rPr sz="1800" b="0" i="0" u="none">
                <a:solidFill>
                  <a:srgbClr val="000000"/>
                </a:solidFill>
                <a:latin typeface="Times New Roman"/>
              </a:rPr>
              <a:t>–</a:t>
            </a:r>
          </a:p>
        </p:txBody>
      </p:sp>
      <p:sp>
        <p:nvSpPr>
          <p:cNvPr id="16" name="TextBox 15"/>
          <p:cNvSpPr txBox="1"/>
          <p:nvPr/>
        </p:nvSpPr>
        <p:spPr>
          <a:xfrm>
            <a:off x="1664208" y="2496312"/>
            <a:ext cx="9308592" cy="292608"/>
          </a:xfrm>
          <a:prstGeom prst="rect">
            <a:avLst/>
          </a:prstGeom>
          <a:noFill/>
        </p:spPr>
        <p:txBody>
          <a:bodyPr wrap="square" lIns="27432" tIns="9144" rIns="27432" bIns="9144" anchor="t">
            <a:spAutoFit/>
          </a:bodyPr>
          <a:lstStyle/>
          <a:p>
            <a:pPr algn="l"/>
            <a:r>
              <a:rPr sz="1800" b="0" i="0" u="none">
                <a:solidFill>
                  <a:srgbClr val="000000"/>
                </a:solidFill>
                <a:latin typeface="Times New Roman"/>
              </a:rPr>
              <a:t>Một lời hứa</a:t>
            </a:r>
          </a:p>
        </p:txBody>
      </p:sp>
      <p:sp>
        <p:nvSpPr>
          <p:cNvPr id="17" name="TextBox 16"/>
          <p:cNvSpPr txBox="1"/>
          <p:nvPr/>
        </p:nvSpPr>
        <p:spPr>
          <a:xfrm>
            <a:off x="1389888" y="2843784"/>
            <a:ext cx="256032" cy="292608"/>
          </a:xfrm>
          <a:prstGeom prst="rect">
            <a:avLst/>
          </a:prstGeom>
          <a:noFill/>
        </p:spPr>
        <p:txBody>
          <a:bodyPr wrap="square" lIns="27432" tIns="9144" rIns="27432" bIns="9144" anchor="t">
            <a:spAutoFit/>
          </a:bodyPr>
          <a:lstStyle/>
          <a:p>
            <a:pPr algn="ctr"/>
            <a:r>
              <a:rPr sz="1800" b="0" i="0" u="none">
                <a:solidFill>
                  <a:srgbClr val="000000"/>
                </a:solidFill>
                <a:latin typeface="Times New Roman"/>
              </a:rPr>
              <a:t>–</a:t>
            </a:r>
          </a:p>
        </p:txBody>
      </p:sp>
      <p:sp>
        <p:nvSpPr>
          <p:cNvPr id="18" name="TextBox 17"/>
          <p:cNvSpPr txBox="1"/>
          <p:nvPr/>
        </p:nvSpPr>
        <p:spPr>
          <a:xfrm>
            <a:off x="1664208" y="2843784"/>
            <a:ext cx="9308592" cy="292608"/>
          </a:xfrm>
          <a:prstGeom prst="rect">
            <a:avLst/>
          </a:prstGeom>
          <a:noFill/>
        </p:spPr>
        <p:txBody>
          <a:bodyPr wrap="square" lIns="27432" tIns="9144" rIns="27432" bIns="9144" anchor="t">
            <a:spAutoFit/>
          </a:bodyPr>
          <a:lstStyle/>
          <a:p>
            <a:pPr algn="l"/>
            <a:r>
              <a:rPr sz="1800" b="0" i="0" u="none">
                <a:solidFill>
                  <a:srgbClr val="000000"/>
                </a:solidFill>
                <a:latin typeface="Times New Roman"/>
              </a:rPr>
              <a:t>Thậm chí làm mọi người phải hoạt động</a:t>
            </a:r>
          </a:p>
        </p:txBody>
      </p:sp>
      <p:sp>
        <p:nvSpPr>
          <p:cNvPr id="19" name="TextBox 18"/>
          <p:cNvSpPr txBox="1"/>
          <p:nvPr/>
        </p:nvSpPr>
        <p:spPr>
          <a:xfrm>
            <a:off x="713232" y="3355848"/>
            <a:ext cx="256032" cy="329184"/>
          </a:xfrm>
          <a:prstGeom prst="rect">
            <a:avLst/>
          </a:prstGeom>
          <a:noFill/>
        </p:spPr>
        <p:txBody>
          <a:bodyPr wrap="square" lIns="27432" tIns="9144" rIns="27432" bIns="9144" anchor="t">
            <a:spAutoFit/>
          </a:bodyPr>
          <a:lstStyle/>
          <a:p>
            <a:pPr algn="ctr"/>
            <a:r>
              <a:rPr sz="2000" b="0" i="0" u="none">
                <a:solidFill>
                  <a:srgbClr val="000000"/>
                </a:solidFill>
                <a:latin typeface="Times New Roman"/>
              </a:rPr>
              <a:t>•</a:t>
            </a:r>
          </a:p>
        </p:txBody>
      </p:sp>
      <p:sp>
        <p:nvSpPr>
          <p:cNvPr id="20" name="TextBox 19"/>
          <p:cNvSpPr txBox="1"/>
          <p:nvPr/>
        </p:nvSpPr>
        <p:spPr>
          <a:xfrm>
            <a:off x="987552" y="3355848"/>
            <a:ext cx="10241280" cy="329184"/>
          </a:xfrm>
          <a:prstGeom prst="rect">
            <a:avLst/>
          </a:prstGeom>
          <a:noFill/>
        </p:spPr>
        <p:txBody>
          <a:bodyPr wrap="square" lIns="27432" tIns="9144" rIns="27432" bIns="9144" anchor="t">
            <a:spAutoFit/>
          </a:bodyPr>
          <a:lstStyle/>
          <a:p>
            <a:pPr algn="l"/>
            <a:r>
              <a:rPr sz="2000" b="0" i="0" u="none">
                <a:solidFill>
                  <a:srgbClr val="000000"/>
                </a:solidFill>
                <a:latin typeface="Times New Roman"/>
              </a:rPr>
              <a:t>Tóm lược các nội dung liên quan</a:t>
            </a:r>
          </a:p>
        </p:txBody>
      </p:sp>
      <p:sp>
        <p:nvSpPr>
          <p:cNvPr id="21" name="TextBox 20"/>
          <p:cNvSpPr txBox="1"/>
          <p:nvPr/>
        </p:nvSpPr>
        <p:spPr>
          <a:xfrm>
            <a:off x="1389888" y="3730752"/>
            <a:ext cx="256032" cy="292608"/>
          </a:xfrm>
          <a:prstGeom prst="rect">
            <a:avLst/>
          </a:prstGeom>
          <a:noFill/>
        </p:spPr>
        <p:txBody>
          <a:bodyPr wrap="square" lIns="27432" tIns="9144" rIns="27432" bIns="9144" anchor="t">
            <a:spAutoFit/>
          </a:bodyPr>
          <a:lstStyle/>
          <a:p>
            <a:pPr algn="ctr"/>
            <a:r>
              <a:rPr sz="1800" b="0" i="0" u="none">
                <a:solidFill>
                  <a:srgbClr val="000000"/>
                </a:solidFill>
                <a:latin typeface="Times New Roman"/>
              </a:rPr>
              <a:t>–</a:t>
            </a:r>
          </a:p>
        </p:txBody>
      </p:sp>
      <p:sp>
        <p:nvSpPr>
          <p:cNvPr id="22" name="TextBox 21"/>
          <p:cNvSpPr txBox="1"/>
          <p:nvPr/>
        </p:nvSpPr>
        <p:spPr>
          <a:xfrm>
            <a:off x="1664208" y="3730752"/>
            <a:ext cx="9308592" cy="292608"/>
          </a:xfrm>
          <a:prstGeom prst="rect">
            <a:avLst/>
          </a:prstGeom>
          <a:noFill/>
        </p:spPr>
        <p:txBody>
          <a:bodyPr wrap="square" lIns="27432" tIns="9144" rIns="27432" bIns="9144" anchor="t">
            <a:spAutoFit/>
          </a:bodyPr>
          <a:lstStyle/>
          <a:p>
            <a:pPr algn="l"/>
            <a:r>
              <a:rPr sz="1800" b="0" i="0" u="none">
                <a:solidFill>
                  <a:srgbClr val="000000"/>
                </a:solidFill>
                <a:latin typeface="Times New Roman"/>
              </a:rPr>
              <a:t>Đã được trình bày</a:t>
            </a:r>
          </a:p>
        </p:txBody>
      </p:sp>
      <p:sp>
        <p:nvSpPr>
          <p:cNvPr id="23" name="TextBox 22"/>
          <p:cNvSpPr txBox="1"/>
          <p:nvPr/>
        </p:nvSpPr>
        <p:spPr>
          <a:xfrm>
            <a:off x="1389888" y="4069080"/>
            <a:ext cx="256032" cy="292608"/>
          </a:xfrm>
          <a:prstGeom prst="rect">
            <a:avLst/>
          </a:prstGeom>
          <a:noFill/>
        </p:spPr>
        <p:txBody>
          <a:bodyPr wrap="square" lIns="27432" tIns="9144" rIns="27432" bIns="9144" anchor="t">
            <a:spAutoFit/>
          </a:bodyPr>
          <a:lstStyle/>
          <a:p>
            <a:pPr algn="ctr"/>
            <a:r>
              <a:rPr sz="1800" b="0" i="0" u="none">
                <a:solidFill>
                  <a:srgbClr val="000000"/>
                </a:solidFill>
                <a:latin typeface="Times New Roman"/>
              </a:rPr>
              <a:t>–</a:t>
            </a:r>
          </a:p>
        </p:txBody>
      </p:sp>
      <p:sp>
        <p:nvSpPr>
          <p:cNvPr id="24" name="TextBox 23"/>
          <p:cNvSpPr txBox="1"/>
          <p:nvPr/>
        </p:nvSpPr>
        <p:spPr>
          <a:xfrm>
            <a:off x="1664208" y="4069080"/>
            <a:ext cx="9308592" cy="292608"/>
          </a:xfrm>
          <a:prstGeom prst="rect">
            <a:avLst/>
          </a:prstGeom>
          <a:noFill/>
        </p:spPr>
        <p:txBody>
          <a:bodyPr wrap="square" lIns="27432" tIns="9144" rIns="27432" bIns="9144" anchor="t">
            <a:spAutoFit/>
          </a:bodyPr>
          <a:lstStyle/>
          <a:p>
            <a:pPr algn="l"/>
            <a:r>
              <a:rPr sz="1800" b="0" i="0" u="none">
                <a:solidFill>
                  <a:srgbClr val="000000"/>
                </a:solidFill>
                <a:latin typeface="Times New Roman"/>
              </a:rPr>
              <a:t>Được đa số người nghe biết rõ</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6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0040" y="-219456"/>
            <a:ext cx="2331720" cy="1143000"/>
          </a:xfrm>
          <a:prstGeom prst="ellipse">
            <a:avLst/>
          </a:prstGeom>
          <a:solidFill>
            <a:srgbClr val="C4EB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274320"/>
            <a:ext cx="1554480" cy="182880"/>
          </a:xfrm>
          <a:prstGeom prst="rect">
            <a:avLst/>
          </a:prstGeom>
          <a:noFill/>
        </p:spPr>
        <p:txBody>
          <a:bodyPr wrap="square" lIns="27432" tIns="9144" rIns="27432" bIns="9144" anchor="t">
            <a:spAutoFit/>
          </a:bodyPr>
          <a:lstStyle/>
          <a:p>
            <a:pPr algn="l"/>
            <a:r>
              <a:rPr sz="800" b="1" i="0" u="none">
                <a:solidFill>
                  <a:srgbClr val="005A82"/>
                </a:solidFill>
                <a:latin typeface="Times New Roman"/>
              </a:rPr>
              <a:t>CANTHO UNIVERSITY</a:t>
            </a:r>
          </a:p>
        </p:txBody>
      </p:sp>
      <p:sp>
        <p:nvSpPr>
          <p:cNvPr id="5" name="Rectangle 4"/>
          <p:cNvSpPr/>
          <p:nvPr/>
        </p:nvSpPr>
        <p:spPr>
          <a:xfrm>
            <a:off x="2148840" y="393192"/>
            <a:ext cx="9921240" cy="82296"/>
          </a:xfrm>
          <a:prstGeom prst="rect">
            <a:avLst/>
          </a:prstGeom>
          <a:solidFill>
            <a:srgbClr val="006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 y="283464"/>
            <a:ext cx="1737360" cy="182880"/>
          </a:xfrm>
          <a:prstGeom prst="rect">
            <a:avLst/>
          </a:prstGeom>
          <a:noFill/>
        </p:spPr>
        <p:txBody>
          <a:bodyPr wrap="square" lIns="27432" tIns="9144" rIns="27432" bIns="9144" anchor="t">
            <a:spAutoFit/>
          </a:bodyPr>
          <a:lstStyle/>
          <a:p>
            <a:pPr algn="l"/>
            <a:r>
              <a:rPr sz="800" b="1" i="0" u="none">
                <a:solidFill>
                  <a:srgbClr val="005A82"/>
                </a:solidFill>
                <a:latin typeface="Times New Roman"/>
              </a:rPr>
              <a:t>CANTHO UNIVERSITY</a:t>
            </a:r>
          </a:p>
        </p:txBody>
      </p:sp>
      <p:sp>
        <p:nvSpPr>
          <p:cNvPr id="7" name="TextBox 6"/>
          <p:cNvSpPr txBox="1"/>
          <p:nvPr/>
        </p:nvSpPr>
        <p:spPr>
          <a:xfrm>
            <a:off x="566928" y="713232"/>
            <a:ext cx="10972800" cy="566928"/>
          </a:xfrm>
          <a:prstGeom prst="rect">
            <a:avLst/>
          </a:prstGeom>
          <a:noFill/>
        </p:spPr>
        <p:txBody>
          <a:bodyPr wrap="square" lIns="27432" tIns="9144" rIns="27432" bIns="9144" anchor="t">
            <a:spAutoFit/>
          </a:bodyPr>
          <a:lstStyle/>
          <a:p>
            <a:pPr algn="l"/>
            <a:r>
              <a:rPr sz="2900" b="1" i="0" u="none">
                <a:solidFill>
                  <a:srgbClr val="996633"/>
                </a:solidFill>
                <a:latin typeface="Times New Roman"/>
              </a:rPr>
              <a:t>Phần chính</a:t>
            </a:r>
          </a:p>
        </p:txBody>
      </p:sp>
      <p:sp>
        <p:nvSpPr>
          <p:cNvPr id="8" name="TextBox 7"/>
          <p:cNvSpPr txBox="1"/>
          <p:nvPr/>
        </p:nvSpPr>
        <p:spPr>
          <a:xfrm>
            <a:off x="11155680" y="6016752"/>
            <a:ext cx="457200" cy="274320"/>
          </a:xfrm>
          <a:prstGeom prst="rect">
            <a:avLst/>
          </a:prstGeom>
          <a:noFill/>
        </p:spPr>
        <p:txBody>
          <a:bodyPr wrap="square" lIns="27432" tIns="9144" rIns="27432" bIns="9144" anchor="t">
            <a:spAutoFit/>
          </a:bodyPr>
          <a:lstStyle/>
          <a:p>
            <a:pPr algn="r"/>
            <a:r>
              <a:rPr sz="1400" b="0" i="0" u="none">
                <a:solidFill>
                  <a:srgbClr val="737373"/>
                </a:solidFill>
                <a:latin typeface="Times New Roman"/>
              </a:rPr>
              <a:t>4</a:t>
            </a:r>
          </a:p>
        </p:txBody>
      </p:sp>
      <p:sp>
        <p:nvSpPr>
          <p:cNvPr id="9" name="TextBox 8"/>
          <p:cNvSpPr txBox="1"/>
          <p:nvPr/>
        </p:nvSpPr>
        <p:spPr>
          <a:xfrm>
            <a:off x="713232" y="1417320"/>
            <a:ext cx="256032" cy="329184"/>
          </a:xfrm>
          <a:prstGeom prst="rect">
            <a:avLst/>
          </a:prstGeom>
          <a:noFill/>
        </p:spPr>
        <p:txBody>
          <a:bodyPr wrap="square" lIns="27432" tIns="9144" rIns="27432" bIns="9144" anchor="t">
            <a:spAutoFit/>
          </a:bodyPr>
          <a:lstStyle/>
          <a:p>
            <a:pPr algn="ctr"/>
            <a:r>
              <a:rPr sz="2000" b="0" i="0" u="none">
                <a:solidFill>
                  <a:srgbClr val="000000"/>
                </a:solidFill>
                <a:latin typeface="Times New Roman"/>
              </a:rPr>
              <a:t>•</a:t>
            </a:r>
          </a:p>
        </p:txBody>
      </p:sp>
      <p:sp>
        <p:nvSpPr>
          <p:cNvPr id="10" name="TextBox 9"/>
          <p:cNvSpPr txBox="1"/>
          <p:nvPr/>
        </p:nvSpPr>
        <p:spPr>
          <a:xfrm>
            <a:off x="987552" y="1417320"/>
            <a:ext cx="10241280" cy="329184"/>
          </a:xfrm>
          <a:prstGeom prst="rect">
            <a:avLst/>
          </a:prstGeom>
          <a:noFill/>
        </p:spPr>
        <p:txBody>
          <a:bodyPr wrap="square" lIns="27432" tIns="9144" rIns="27432" bIns="9144" anchor="t">
            <a:spAutoFit/>
          </a:bodyPr>
          <a:lstStyle/>
          <a:p>
            <a:pPr algn="l"/>
            <a:r>
              <a:rPr sz="2000" b="0" i="0" u="none">
                <a:solidFill>
                  <a:srgbClr val="000000"/>
                </a:solidFill>
                <a:latin typeface="Times New Roman"/>
              </a:rPr>
              <a:t>Phần chính với các nội dung</a:t>
            </a:r>
          </a:p>
        </p:txBody>
      </p:sp>
      <p:sp>
        <p:nvSpPr>
          <p:cNvPr id="11" name="TextBox 10"/>
          <p:cNvSpPr txBox="1"/>
          <p:nvPr/>
        </p:nvSpPr>
        <p:spPr>
          <a:xfrm>
            <a:off x="1389888" y="1847088"/>
            <a:ext cx="256032" cy="292608"/>
          </a:xfrm>
          <a:prstGeom prst="rect">
            <a:avLst/>
          </a:prstGeom>
          <a:noFill/>
        </p:spPr>
        <p:txBody>
          <a:bodyPr wrap="square" lIns="27432" tIns="9144" rIns="27432" bIns="9144" anchor="t">
            <a:spAutoFit/>
          </a:bodyPr>
          <a:lstStyle/>
          <a:p>
            <a:pPr algn="ctr"/>
            <a:r>
              <a:rPr sz="1800" b="0" i="0" u="none">
                <a:solidFill>
                  <a:srgbClr val="000000"/>
                </a:solidFill>
                <a:latin typeface="Times New Roman"/>
              </a:rPr>
              <a:t>–</a:t>
            </a:r>
          </a:p>
        </p:txBody>
      </p:sp>
      <p:sp>
        <p:nvSpPr>
          <p:cNvPr id="12" name="TextBox 11"/>
          <p:cNvSpPr txBox="1"/>
          <p:nvPr/>
        </p:nvSpPr>
        <p:spPr>
          <a:xfrm>
            <a:off x="1664208" y="1847088"/>
            <a:ext cx="9308592" cy="292608"/>
          </a:xfrm>
          <a:prstGeom prst="rect">
            <a:avLst/>
          </a:prstGeom>
          <a:noFill/>
        </p:spPr>
        <p:txBody>
          <a:bodyPr wrap="square" lIns="27432" tIns="9144" rIns="27432" bIns="9144" anchor="t">
            <a:spAutoFit/>
          </a:bodyPr>
          <a:lstStyle/>
          <a:p>
            <a:pPr algn="l"/>
            <a:r>
              <a:rPr sz="1800" b="0" i="0" u="none">
                <a:solidFill>
                  <a:srgbClr val="000000"/>
                </a:solidFill>
                <a:latin typeface="Times New Roman"/>
              </a:rPr>
              <a:t>Vấn đề cần giải quyết, yêu cầu công việc</a:t>
            </a:r>
          </a:p>
        </p:txBody>
      </p:sp>
      <p:sp>
        <p:nvSpPr>
          <p:cNvPr id="13" name="TextBox 12"/>
          <p:cNvSpPr txBox="1"/>
          <p:nvPr/>
        </p:nvSpPr>
        <p:spPr>
          <a:xfrm>
            <a:off x="1389888" y="2240280"/>
            <a:ext cx="256032" cy="292608"/>
          </a:xfrm>
          <a:prstGeom prst="rect">
            <a:avLst/>
          </a:prstGeom>
          <a:noFill/>
        </p:spPr>
        <p:txBody>
          <a:bodyPr wrap="square" lIns="27432" tIns="9144" rIns="27432" bIns="9144" anchor="t">
            <a:spAutoFit/>
          </a:bodyPr>
          <a:lstStyle/>
          <a:p>
            <a:pPr algn="ctr"/>
            <a:r>
              <a:rPr sz="1800" b="0" i="0" u="none">
                <a:solidFill>
                  <a:srgbClr val="000000"/>
                </a:solidFill>
                <a:latin typeface="Times New Roman"/>
              </a:rPr>
              <a:t>–</a:t>
            </a:r>
          </a:p>
        </p:txBody>
      </p:sp>
      <p:sp>
        <p:nvSpPr>
          <p:cNvPr id="14" name="TextBox 13"/>
          <p:cNvSpPr txBox="1"/>
          <p:nvPr/>
        </p:nvSpPr>
        <p:spPr>
          <a:xfrm>
            <a:off x="1664208" y="2240280"/>
            <a:ext cx="9308592" cy="292608"/>
          </a:xfrm>
          <a:prstGeom prst="rect">
            <a:avLst/>
          </a:prstGeom>
          <a:noFill/>
        </p:spPr>
        <p:txBody>
          <a:bodyPr wrap="square" lIns="27432" tIns="9144" rIns="27432" bIns="9144" anchor="t">
            <a:spAutoFit/>
          </a:bodyPr>
          <a:lstStyle/>
          <a:p>
            <a:pPr algn="l"/>
            <a:r>
              <a:rPr sz="1800" b="0" i="0" u="none">
                <a:solidFill>
                  <a:srgbClr val="000000"/>
                </a:solidFill>
                <a:latin typeface="Times New Roman"/>
              </a:rPr>
              <a:t>Ý tưởng và giải pháp</a:t>
            </a:r>
          </a:p>
        </p:txBody>
      </p:sp>
      <p:sp>
        <p:nvSpPr>
          <p:cNvPr id="15" name="TextBox 14"/>
          <p:cNvSpPr txBox="1"/>
          <p:nvPr/>
        </p:nvSpPr>
        <p:spPr>
          <a:xfrm>
            <a:off x="1389888" y="2633472"/>
            <a:ext cx="256032" cy="292608"/>
          </a:xfrm>
          <a:prstGeom prst="rect">
            <a:avLst/>
          </a:prstGeom>
          <a:noFill/>
        </p:spPr>
        <p:txBody>
          <a:bodyPr wrap="square" lIns="27432" tIns="9144" rIns="27432" bIns="9144" anchor="t">
            <a:spAutoFit/>
          </a:bodyPr>
          <a:lstStyle/>
          <a:p>
            <a:pPr algn="ctr"/>
            <a:r>
              <a:rPr sz="1800" b="0" i="0" u="none">
                <a:solidFill>
                  <a:srgbClr val="0066B4"/>
                </a:solidFill>
                <a:latin typeface="Times New Roman"/>
              </a:rPr>
              <a:t>–</a:t>
            </a:r>
          </a:p>
        </p:txBody>
      </p:sp>
      <p:sp>
        <p:nvSpPr>
          <p:cNvPr id="16" name="TextBox 15">
            <a:hlinkClick r:id="rId3" action="ppaction://hlinksldjump"/>
          </p:cNvPr>
          <p:cNvSpPr txBox="1"/>
          <p:nvPr/>
        </p:nvSpPr>
        <p:spPr>
          <a:xfrm>
            <a:off x="1664208" y="2633472"/>
            <a:ext cx="9308592" cy="292608"/>
          </a:xfrm>
          <a:prstGeom prst="rect">
            <a:avLst/>
          </a:prstGeom>
          <a:noFill/>
        </p:spPr>
        <p:txBody>
          <a:bodyPr wrap="square" lIns="27432" tIns="9144" rIns="27432" bIns="9144" anchor="t">
            <a:spAutoFit/>
          </a:bodyPr>
          <a:lstStyle/>
          <a:p>
            <a:pPr algn="l"/>
            <a:r>
              <a:rPr sz="1800" b="0" i="0" u="sng">
                <a:solidFill>
                  <a:srgbClr val="0066B4"/>
                </a:solidFill>
                <a:latin typeface="Times New Roman"/>
              </a:rPr>
              <a:t>Cung cấp ví dụ để chứng minh</a:t>
            </a:r>
          </a:p>
        </p:txBody>
      </p:sp>
      <p:sp>
        <p:nvSpPr>
          <p:cNvPr id="17" name="TextBox 16"/>
          <p:cNvSpPr txBox="1"/>
          <p:nvPr/>
        </p:nvSpPr>
        <p:spPr>
          <a:xfrm>
            <a:off x="1389888" y="3026664"/>
            <a:ext cx="256032" cy="292608"/>
          </a:xfrm>
          <a:prstGeom prst="rect">
            <a:avLst/>
          </a:prstGeom>
          <a:noFill/>
        </p:spPr>
        <p:txBody>
          <a:bodyPr wrap="square" lIns="27432" tIns="9144" rIns="27432" bIns="9144" anchor="t">
            <a:spAutoFit/>
          </a:bodyPr>
          <a:lstStyle/>
          <a:p>
            <a:pPr algn="ctr"/>
            <a:r>
              <a:rPr sz="1800" b="0" i="0" u="none">
                <a:solidFill>
                  <a:srgbClr val="000000"/>
                </a:solidFill>
                <a:latin typeface="Times New Roman"/>
              </a:rPr>
              <a:t>–</a:t>
            </a:r>
          </a:p>
        </p:txBody>
      </p:sp>
      <p:sp>
        <p:nvSpPr>
          <p:cNvPr id="18" name="TextBox 17"/>
          <p:cNvSpPr txBox="1"/>
          <p:nvPr/>
        </p:nvSpPr>
        <p:spPr>
          <a:xfrm>
            <a:off x="1664208" y="3026664"/>
            <a:ext cx="9308592" cy="292608"/>
          </a:xfrm>
          <a:prstGeom prst="rect">
            <a:avLst/>
          </a:prstGeom>
          <a:noFill/>
        </p:spPr>
        <p:txBody>
          <a:bodyPr wrap="square" lIns="27432" tIns="9144" rIns="27432" bIns="9144" anchor="t">
            <a:spAutoFit/>
          </a:bodyPr>
          <a:lstStyle/>
          <a:p>
            <a:pPr algn="l"/>
            <a:r>
              <a:rPr sz="1800" b="0" i="0" u="none">
                <a:solidFill>
                  <a:srgbClr val="000000"/>
                </a:solidFill>
                <a:latin typeface="Times New Roman"/>
              </a:rPr>
              <a:t>Lợi ích khi áp dụng giải pháp</a:t>
            </a:r>
          </a:p>
        </p:txBody>
      </p:sp>
      <p:sp>
        <p:nvSpPr>
          <p:cNvPr id="19" name="TextBox 18"/>
          <p:cNvSpPr txBox="1"/>
          <p:nvPr/>
        </p:nvSpPr>
        <p:spPr>
          <a:xfrm>
            <a:off x="1389888" y="3419856"/>
            <a:ext cx="256032" cy="384048"/>
          </a:xfrm>
          <a:prstGeom prst="rect">
            <a:avLst/>
          </a:prstGeom>
          <a:noFill/>
        </p:spPr>
        <p:txBody>
          <a:bodyPr wrap="square" lIns="27432" tIns="9144" rIns="27432" bIns="9144" anchor="t">
            <a:spAutoFit/>
          </a:bodyPr>
          <a:lstStyle/>
          <a:p>
            <a:pPr algn="ctr"/>
            <a:r>
              <a:rPr sz="1800" b="0" i="0" u="none">
                <a:solidFill>
                  <a:srgbClr val="000000"/>
                </a:solidFill>
                <a:latin typeface="Times New Roman"/>
              </a:rPr>
              <a:t>–</a:t>
            </a:r>
          </a:p>
        </p:txBody>
      </p:sp>
      <p:sp>
        <p:nvSpPr>
          <p:cNvPr id="20" name="TextBox 19"/>
          <p:cNvSpPr txBox="1"/>
          <p:nvPr/>
        </p:nvSpPr>
        <p:spPr>
          <a:xfrm>
            <a:off x="1664208" y="3419856"/>
            <a:ext cx="9308592" cy="384048"/>
          </a:xfrm>
          <a:prstGeom prst="rect">
            <a:avLst/>
          </a:prstGeom>
          <a:noFill/>
        </p:spPr>
        <p:txBody>
          <a:bodyPr wrap="square" lIns="27432" tIns="9144" rIns="27432" bIns="9144" anchor="t">
            <a:spAutoFit/>
          </a:bodyPr>
          <a:lstStyle/>
          <a:p>
            <a:pPr algn="l"/>
            <a:r>
              <a:rPr sz="1800" b="0" i="0" u="none">
                <a:solidFill>
                  <a:srgbClr val="000000"/>
                </a:solidFill>
                <a:latin typeface="Times New Roman"/>
              </a:rPr>
              <a:t>Chương trình hành động/các việc làm cụ thể</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6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0040" y="-219456"/>
            <a:ext cx="2331720" cy="1143000"/>
          </a:xfrm>
          <a:prstGeom prst="ellipse">
            <a:avLst/>
          </a:prstGeom>
          <a:solidFill>
            <a:srgbClr val="C4EB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274320"/>
            <a:ext cx="1554480" cy="182880"/>
          </a:xfrm>
          <a:prstGeom prst="rect">
            <a:avLst/>
          </a:prstGeom>
          <a:noFill/>
        </p:spPr>
        <p:txBody>
          <a:bodyPr wrap="square" lIns="27432" tIns="9144" rIns="27432" bIns="9144" anchor="t">
            <a:spAutoFit/>
          </a:bodyPr>
          <a:lstStyle/>
          <a:p>
            <a:pPr algn="l"/>
            <a:r>
              <a:rPr sz="800" b="1" i="0" u="none">
                <a:solidFill>
                  <a:srgbClr val="005A82"/>
                </a:solidFill>
                <a:latin typeface="Times New Roman"/>
              </a:rPr>
              <a:t>CANTHO UNIVERSITY</a:t>
            </a:r>
          </a:p>
        </p:txBody>
      </p:sp>
      <p:sp>
        <p:nvSpPr>
          <p:cNvPr id="5" name="Rectangle 4"/>
          <p:cNvSpPr/>
          <p:nvPr/>
        </p:nvSpPr>
        <p:spPr>
          <a:xfrm>
            <a:off x="2148840" y="393192"/>
            <a:ext cx="9921240" cy="82296"/>
          </a:xfrm>
          <a:prstGeom prst="rect">
            <a:avLst/>
          </a:prstGeom>
          <a:solidFill>
            <a:srgbClr val="006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 y="283464"/>
            <a:ext cx="1737360" cy="182880"/>
          </a:xfrm>
          <a:prstGeom prst="rect">
            <a:avLst/>
          </a:prstGeom>
          <a:noFill/>
        </p:spPr>
        <p:txBody>
          <a:bodyPr wrap="square" lIns="27432" tIns="9144" rIns="27432" bIns="9144" anchor="t">
            <a:spAutoFit/>
          </a:bodyPr>
          <a:lstStyle/>
          <a:p>
            <a:pPr algn="l"/>
            <a:r>
              <a:rPr sz="800" b="1" i="0" u="none">
                <a:solidFill>
                  <a:srgbClr val="005A82"/>
                </a:solidFill>
                <a:latin typeface="Times New Roman"/>
              </a:rPr>
              <a:t>CANTHO UNIVERSITY</a:t>
            </a:r>
          </a:p>
        </p:txBody>
      </p:sp>
      <p:sp>
        <p:nvSpPr>
          <p:cNvPr id="7" name="TextBox 6"/>
          <p:cNvSpPr txBox="1"/>
          <p:nvPr/>
        </p:nvSpPr>
        <p:spPr>
          <a:xfrm>
            <a:off x="566928" y="713232"/>
            <a:ext cx="10972800" cy="566928"/>
          </a:xfrm>
          <a:prstGeom prst="rect">
            <a:avLst/>
          </a:prstGeom>
          <a:noFill/>
        </p:spPr>
        <p:txBody>
          <a:bodyPr wrap="square" lIns="27432" tIns="9144" rIns="27432" bIns="9144" anchor="t">
            <a:spAutoFit/>
          </a:bodyPr>
          <a:lstStyle/>
          <a:p>
            <a:pPr algn="l"/>
            <a:r>
              <a:rPr sz="2900" b="1" i="0" u="none">
                <a:solidFill>
                  <a:srgbClr val="996633"/>
                </a:solidFill>
                <a:latin typeface="Times New Roman"/>
              </a:rPr>
              <a:t>Phần kết</a:t>
            </a:r>
          </a:p>
        </p:txBody>
      </p:sp>
      <p:sp>
        <p:nvSpPr>
          <p:cNvPr id="8" name="TextBox 7"/>
          <p:cNvSpPr txBox="1"/>
          <p:nvPr/>
        </p:nvSpPr>
        <p:spPr>
          <a:xfrm>
            <a:off x="11155680" y="6016752"/>
            <a:ext cx="457200" cy="274320"/>
          </a:xfrm>
          <a:prstGeom prst="rect">
            <a:avLst/>
          </a:prstGeom>
          <a:noFill/>
        </p:spPr>
        <p:txBody>
          <a:bodyPr wrap="square" lIns="27432" tIns="9144" rIns="27432" bIns="9144" anchor="t">
            <a:spAutoFit/>
          </a:bodyPr>
          <a:lstStyle/>
          <a:p>
            <a:pPr algn="r"/>
            <a:r>
              <a:rPr sz="1400" b="0" i="0" u="none">
                <a:solidFill>
                  <a:srgbClr val="737373"/>
                </a:solidFill>
                <a:latin typeface="Times New Roman"/>
              </a:rPr>
              <a:t>5</a:t>
            </a:r>
          </a:p>
        </p:txBody>
      </p:sp>
      <p:sp>
        <p:nvSpPr>
          <p:cNvPr id="9" name="TextBox 8"/>
          <p:cNvSpPr txBox="1"/>
          <p:nvPr/>
        </p:nvSpPr>
        <p:spPr>
          <a:xfrm>
            <a:off x="713232" y="1664208"/>
            <a:ext cx="256032" cy="384048"/>
          </a:xfrm>
          <a:prstGeom prst="rect">
            <a:avLst/>
          </a:prstGeom>
          <a:noFill/>
        </p:spPr>
        <p:txBody>
          <a:bodyPr wrap="square" lIns="27432" tIns="9144" rIns="27432" bIns="9144" anchor="t">
            <a:spAutoFit/>
          </a:bodyPr>
          <a:lstStyle/>
          <a:p>
            <a:pPr algn="ctr"/>
            <a:r>
              <a:rPr sz="2200" b="0" i="0" u="none">
                <a:solidFill>
                  <a:srgbClr val="000000"/>
                </a:solidFill>
                <a:latin typeface="Times New Roman"/>
              </a:rPr>
              <a:t>•</a:t>
            </a:r>
          </a:p>
        </p:txBody>
      </p:sp>
      <p:sp>
        <p:nvSpPr>
          <p:cNvPr id="10" name="TextBox 9"/>
          <p:cNvSpPr txBox="1"/>
          <p:nvPr/>
        </p:nvSpPr>
        <p:spPr>
          <a:xfrm>
            <a:off x="987552" y="1664208"/>
            <a:ext cx="10149840" cy="384048"/>
          </a:xfrm>
          <a:prstGeom prst="rect">
            <a:avLst/>
          </a:prstGeom>
          <a:noFill/>
        </p:spPr>
        <p:txBody>
          <a:bodyPr wrap="square" lIns="27432" tIns="9144" rIns="27432" bIns="9144" anchor="t">
            <a:spAutoFit/>
          </a:bodyPr>
          <a:lstStyle/>
          <a:p>
            <a:pPr algn="l"/>
            <a:r>
              <a:rPr sz="2200" b="0" i="0" u="none">
                <a:solidFill>
                  <a:srgbClr val="000000"/>
                </a:solidFill>
                <a:latin typeface="Times New Roman"/>
              </a:rPr>
              <a:t>Tóm tắt</a:t>
            </a:r>
          </a:p>
        </p:txBody>
      </p:sp>
      <p:sp>
        <p:nvSpPr>
          <p:cNvPr id="11" name="TextBox 10"/>
          <p:cNvSpPr txBox="1"/>
          <p:nvPr/>
        </p:nvSpPr>
        <p:spPr>
          <a:xfrm>
            <a:off x="713232" y="2267712"/>
            <a:ext cx="256032" cy="384048"/>
          </a:xfrm>
          <a:prstGeom prst="rect">
            <a:avLst/>
          </a:prstGeom>
          <a:noFill/>
        </p:spPr>
        <p:txBody>
          <a:bodyPr wrap="square" lIns="27432" tIns="9144" rIns="27432" bIns="9144" anchor="t">
            <a:spAutoFit/>
          </a:bodyPr>
          <a:lstStyle/>
          <a:p>
            <a:pPr algn="ctr"/>
            <a:r>
              <a:rPr sz="2200" b="0" i="0" u="none">
                <a:solidFill>
                  <a:srgbClr val="000000"/>
                </a:solidFill>
                <a:latin typeface="Times New Roman"/>
              </a:rPr>
              <a:t>•</a:t>
            </a:r>
          </a:p>
        </p:txBody>
      </p:sp>
      <p:sp>
        <p:nvSpPr>
          <p:cNvPr id="12" name="TextBox 11"/>
          <p:cNvSpPr txBox="1"/>
          <p:nvPr/>
        </p:nvSpPr>
        <p:spPr>
          <a:xfrm>
            <a:off x="987552" y="2267712"/>
            <a:ext cx="10149840" cy="384048"/>
          </a:xfrm>
          <a:prstGeom prst="rect">
            <a:avLst/>
          </a:prstGeom>
          <a:noFill/>
        </p:spPr>
        <p:txBody>
          <a:bodyPr wrap="square" lIns="27432" tIns="9144" rIns="27432" bIns="9144" anchor="t">
            <a:spAutoFit/>
          </a:bodyPr>
          <a:lstStyle/>
          <a:p>
            <a:pPr algn="l"/>
            <a:r>
              <a:rPr sz="2200" b="0" i="0" u="none">
                <a:solidFill>
                  <a:srgbClr val="000000"/>
                </a:solidFill>
                <a:latin typeface="Times New Roman"/>
              </a:rPr>
              <a:t>Kết luận cuối cùng</a:t>
            </a:r>
          </a:p>
        </p:txBody>
      </p:sp>
      <p:sp>
        <p:nvSpPr>
          <p:cNvPr id="13" name="TextBox 12"/>
          <p:cNvSpPr txBox="1"/>
          <p:nvPr/>
        </p:nvSpPr>
        <p:spPr>
          <a:xfrm>
            <a:off x="1389888" y="2706624"/>
            <a:ext cx="256032" cy="402336"/>
          </a:xfrm>
          <a:prstGeom prst="rect">
            <a:avLst/>
          </a:prstGeom>
          <a:noFill/>
        </p:spPr>
        <p:txBody>
          <a:bodyPr wrap="square" lIns="27432" tIns="9144" rIns="27432" bIns="9144" anchor="t">
            <a:spAutoFit/>
          </a:bodyPr>
          <a:lstStyle/>
          <a:p>
            <a:pPr algn="ctr"/>
            <a:r>
              <a:rPr sz="1800" b="0" i="0" u="none">
                <a:solidFill>
                  <a:srgbClr val="000000"/>
                </a:solidFill>
                <a:latin typeface="Times New Roman"/>
              </a:rPr>
              <a:t>–</a:t>
            </a:r>
          </a:p>
        </p:txBody>
      </p:sp>
      <p:sp>
        <p:nvSpPr>
          <p:cNvPr id="14" name="TextBox 13"/>
          <p:cNvSpPr txBox="1"/>
          <p:nvPr/>
        </p:nvSpPr>
        <p:spPr>
          <a:xfrm>
            <a:off x="1664208" y="2706624"/>
            <a:ext cx="9308592" cy="402336"/>
          </a:xfrm>
          <a:prstGeom prst="rect">
            <a:avLst/>
          </a:prstGeom>
          <a:noFill/>
        </p:spPr>
        <p:txBody>
          <a:bodyPr wrap="square" lIns="27432" tIns="9144" rIns="27432" bIns="9144" anchor="t">
            <a:spAutoFit/>
          </a:bodyPr>
          <a:lstStyle/>
          <a:p>
            <a:pPr algn="l"/>
            <a:r>
              <a:rPr sz="1800" b="0" i="0" u="none">
                <a:solidFill>
                  <a:srgbClr val="000000"/>
                </a:solidFill>
                <a:latin typeface="Times New Roman"/>
              </a:rPr>
              <a:t>Liệu còn điều gì bạn muốn người nghe ghi nhớ?</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5" name="TextBox 4"/>
          <p:cNvSpPr txBox="1"/>
          <p:nvPr/>
        </p:nvSpPr>
        <p:spPr>
          <a:xfrm>
            <a:off x="1097280" y="2798064"/>
            <a:ext cx="9994392" cy="594360"/>
          </a:xfrm>
          <a:prstGeom prst="rect">
            <a:avLst/>
          </a:prstGeom>
          <a:noFill/>
        </p:spPr>
        <p:txBody>
          <a:bodyPr wrap="square" lIns="27432" tIns="9144" rIns="27432" bIns="9144" anchor="ctr">
            <a:spAutoFit/>
          </a:bodyPr>
          <a:lstStyle/>
          <a:p>
            <a:pPr algn="ctr"/>
            <a:r>
              <a:rPr sz="2800" b="1" i="0" u="none">
                <a:solidFill>
                  <a:srgbClr val="000000"/>
                </a:solidFill>
                <a:latin typeface="Times New Roman"/>
              </a:rPr>
              <a:t>Cảm ơn sự chú ý của quý vị</a:t>
            </a:r>
          </a:p>
        </p:txBody>
      </p:sp>
      <p:sp>
        <p:nvSpPr>
          <p:cNvPr id="6" name="TextBox 5"/>
          <p:cNvSpPr txBox="1"/>
          <p:nvPr/>
        </p:nvSpPr>
        <p:spPr>
          <a:xfrm>
            <a:off x="11155680" y="6016752"/>
            <a:ext cx="457200" cy="274320"/>
          </a:xfrm>
          <a:prstGeom prst="rect">
            <a:avLst/>
          </a:prstGeom>
          <a:noFill/>
        </p:spPr>
        <p:txBody>
          <a:bodyPr wrap="square" lIns="27432" tIns="9144" rIns="27432" bIns="9144" anchor="t">
            <a:spAutoFit/>
          </a:bodyPr>
          <a:lstStyle/>
          <a:p>
            <a:pPr algn="r"/>
            <a:r>
              <a:rPr sz="1400" b="0" i="0" u="none">
                <a:solidFill>
                  <a:srgbClr val="737373"/>
                </a:solidFill>
                <a:latin typeface="Times New Roman"/>
              </a:rPr>
              <a:t>6</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6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0040" y="-219456"/>
            <a:ext cx="2331720" cy="1143000"/>
          </a:xfrm>
          <a:prstGeom prst="ellipse">
            <a:avLst/>
          </a:prstGeom>
          <a:solidFill>
            <a:srgbClr val="C4EB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274320"/>
            <a:ext cx="1554480" cy="182880"/>
          </a:xfrm>
          <a:prstGeom prst="rect">
            <a:avLst/>
          </a:prstGeom>
          <a:noFill/>
        </p:spPr>
        <p:txBody>
          <a:bodyPr wrap="square" lIns="27432" tIns="9144" rIns="27432" bIns="9144" anchor="t">
            <a:spAutoFit/>
          </a:bodyPr>
          <a:lstStyle/>
          <a:p>
            <a:pPr algn="l"/>
            <a:r>
              <a:rPr sz="800" b="1" i="0" u="none">
                <a:solidFill>
                  <a:srgbClr val="005A82"/>
                </a:solidFill>
                <a:latin typeface="Times New Roman"/>
              </a:rPr>
              <a:t>CANTHO UNIVERSITY</a:t>
            </a:r>
          </a:p>
        </p:txBody>
      </p:sp>
      <p:sp>
        <p:nvSpPr>
          <p:cNvPr id="5" name="Rectangle 4"/>
          <p:cNvSpPr/>
          <p:nvPr/>
        </p:nvSpPr>
        <p:spPr>
          <a:xfrm>
            <a:off x="2148840" y="393192"/>
            <a:ext cx="9921240" cy="82296"/>
          </a:xfrm>
          <a:prstGeom prst="rect">
            <a:avLst/>
          </a:prstGeom>
          <a:solidFill>
            <a:srgbClr val="006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 y="283464"/>
            <a:ext cx="1737360" cy="182880"/>
          </a:xfrm>
          <a:prstGeom prst="rect">
            <a:avLst/>
          </a:prstGeom>
          <a:noFill/>
        </p:spPr>
        <p:txBody>
          <a:bodyPr wrap="square" lIns="27432" tIns="9144" rIns="27432" bIns="9144" anchor="t">
            <a:spAutoFit/>
          </a:bodyPr>
          <a:lstStyle/>
          <a:p>
            <a:pPr algn="l"/>
            <a:r>
              <a:rPr sz="800" b="1" i="0" u="none">
                <a:solidFill>
                  <a:srgbClr val="005A82"/>
                </a:solidFill>
                <a:latin typeface="Times New Roman"/>
              </a:rPr>
              <a:t>CANTHO UNIVERSITY</a:t>
            </a:r>
          </a:p>
        </p:txBody>
      </p:sp>
      <p:sp>
        <p:nvSpPr>
          <p:cNvPr id="7" name="TextBox 6"/>
          <p:cNvSpPr txBox="1"/>
          <p:nvPr/>
        </p:nvSpPr>
        <p:spPr>
          <a:xfrm>
            <a:off x="566928" y="713232"/>
            <a:ext cx="10972800" cy="566928"/>
          </a:xfrm>
          <a:prstGeom prst="rect">
            <a:avLst/>
          </a:prstGeom>
          <a:noFill/>
        </p:spPr>
        <p:txBody>
          <a:bodyPr wrap="square" lIns="27432" tIns="9144" rIns="27432" bIns="9144" anchor="t">
            <a:spAutoFit/>
          </a:bodyPr>
          <a:lstStyle/>
          <a:p>
            <a:pPr algn="l"/>
            <a:r>
              <a:rPr sz="2700" b="1" i="0" u="none">
                <a:solidFill>
                  <a:srgbClr val="996633"/>
                </a:solidFill>
                <a:latin typeface="Times New Roman"/>
              </a:rPr>
              <a:t>Ví dụ: sử dụng một đoạn trích dẫn khi giới thiệu</a:t>
            </a:r>
          </a:p>
        </p:txBody>
      </p:sp>
      <p:sp>
        <p:nvSpPr>
          <p:cNvPr id="8" name="TextBox 7"/>
          <p:cNvSpPr txBox="1"/>
          <p:nvPr/>
        </p:nvSpPr>
        <p:spPr>
          <a:xfrm>
            <a:off x="11155680" y="6016752"/>
            <a:ext cx="457200" cy="274320"/>
          </a:xfrm>
          <a:prstGeom prst="rect">
            <a:avLst/>
          </a:prstGeom>
          <a:noFill/>
        </p:spPr>
        <p:txBody>
          <a:bodyPr wrap="square" lIns="27432" tIns="9144" rIns="27432" bIns="9144" anchor="t">
            <a:spAutoFit/>
          </a:bodyPr>
          <a:lstStyle/>
          <a:p>
            <a:pPr algn="r"/>
            <a:r>
              <a:rPr sz="1400" b="0" i="0" u="none">
                <a:solidFill>
                  <a:srgbClr val="737373"/>
                </a:solidFill>
                <a:latin typeface="Times New Roman"/>
              </a:rPr>
              <a:t>7</a:t>
            </a:r>
          </a:p>
        </p:txBody>
      </p:sp>
      <p:sp>
        <p:nvSpPr>
          <p:cNvPr id="9" name="TextBox 8"/>
          <p:cNvSpPr txBox="1"/>
          <p:nvPr/>
        </p:nvSpPr>
        <p:spPr>
          <a:xfrm>
            <a:off x="713232" y="1353312"/>
            <a:ext cx="256032" cy="658368"/>
          </a:xfrm>
          <a:prstGeom prst="rect">
            <a:avLst/>
          </a:prstGeom>
          <a:noFill/>
        </p:spPr>
        <p:txBody>
          <a:bodyPr wrap="square" lIns="27432" tIns="9144" rIns="27432" bIns="9144" anchor="t">
            <a:spAutoFit/>
          </a:bodyPr>
          <a:lstStyle/>
          <a:p>
            <a:pPr algn="ctr"/>
            <a:r>
              <a:rPr sz="1700" b="0" i="0" u="none">
                <a:solidFill>
                  <a:srgbClr val="000000"/>
                </a:solidFill>
                <a:latin typeface="Times New Roman"/>
              </a:rPr>
              <a:t>•</a:t>
            </a:r>
          </a:p>
        </p:txBody>
      </p:sp>
      <p:sp>
        <p:nvSpPr>
          <p:cNvPr id="10" name="TextBox 9"/>
          <p:cNvSpPr txBox="1"/>
          <p:nvPr/>
        </p:nvSpPr>
        <p:spPr>
          <a:xfrm>
            <a:off x="987552" y="1353312"/>
            <a:ext cx="10241280" cy="658368"/>
          </a:xfrm>
          <a:prstGeom prst="rect">
            <a:avLst/>
          </a:prstGeom>
          <a:noFill/>
        </p:spPr>
        <p:txBody>
          <a:bodyPr wrap="square" lIns="27432" tIns="9144" rIns="27432" bIns="9144" anchor="t">
            <a:spAutoFit/>
          </a:bodyPr>
          <a:lstStyle/>
          <a:p>
            <a:pPr algn="l"/>
            <a:r>
              <a:rPr sz="1700" b="0" i="0" u="none">
                <a:solidFill>
                  <a:srgbClr val="000000"/>
                </a:solidFill>
                <a:latin typeface="Times New Roman"/>
              </a:rPr>
              <a:t>Ví dụ: Ta có thể phát biểu trích dẫn lợi ích khi học ngành công nghệ thông tin</a:t>
            </a:r>
          </a:p>
        </p:txBody>
      </p:sp>
      <p:sp>
        <p:nvSpPr>
          <p:cNvPr id="11" name="TextBox 10"/>
          <p:cNvSpPr txBox="1"/>
          <p:nvPr/>
        </p:nvSpPr>
        <p:spPr>
          <a:xfrm>
            <a:off x="1051560" y="2048256"/>
            <a:ext cx="10012680" cy="2743200"/>
          </a:xfrm>
          <a:prstGeom prst="rect">
            <a:avLst/>
          </a:prstGeom>
          <a:noFill/>
        </p:spPr>
        <p:txBody>
          <a:bodyPr wrap="square" lIns="27432" tIns="9144" rIns="27432" bIns="9144" anchor="t">
            <a:spAutoFit/>
          </a:bodyPr>
          <a:lstStyle/>
          <a:p>
            <a:pPr algn="l"/>
            <a:r>
              <a:rPr sz="1800" b="0" i="0" u="none">
                <a:solidFill>
                  <a:srgbClr val="000000"/>
                </a:solidFill>
                <a:latin typeface="Times New Roman"/>
              </a:rPr>
              <a:t>“Hàng năm, công nghệ mới luôn được phát triển và thể hiện tầm quan trọng của nó đối với cuộc sống. Các doanh nghiệp cũng thay đổi theo hướng cập nhật công nghệ thông tin và yêu cầu sự thay đổi về nhân sự giỏi công nghệ. Ngành học CNTT được coi là lĩnh vực ngày càng phát triển và trở nên hữu ích cho các bạn muốn xây dựng sự nghiệp với ngành này. Vậy những lợi ích khi học ngành CNTT là gì?”</a:t>
            </a:r>
          </a:p>
        </p:txBody>
      </p:sp>
      <p:sp>
        <p:nvSpPr>
          <p:cNvPr id="12" name="Rounded Rectangle 11">
            <a:hlinkClick r:id="rId3" action="ppaction://hlinksldjump"/>
          </p:cNvPr>
          <p:cNvSpPr/>
          <p:nvPr/>
        </p:nvSpPr>
        <p:spPr>
          <a:xfrm>
            <a:off x="5413248" y="5257800"/>
            <a:ext cx="749808" cy="548640"/>
          </a:xfrm>
          <a:prstGeom prst="roundRect">
            <a:avLst/>
          </a:prstGeom>
          <a:solidFill>
            <a:srgbClr val="4897CC"/>
          </a:solidFill>
          <a:ln>
            <a:solidFill>
              <a:srgbClr val="2A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hlinkClick r:id="rId3" action="ppaction://hlinksldjump"/>
          </p:cNvPr>
          <p:cNvSpPr txBox="1"/>
          <p:nvPr/>
        </p:nvSpPr>
        <p:spPr>
          <a:xfrm>
            <a:off x="5477256" y="5257800"/>
            <a:ext cx="621792" cy="530352"/>
          </a:xfrm>
          <a:prstGeom prst="rect">
            <a:avLst/>
          </a:prstGeom>
          <a:noFill/>
        </p:spPr>
        <p:txBody>
          <a:bodyPr wrap="square" lIns="0" tIns="9144" rIns="0" bIns="9144" anchor="ctr">
            <a:spAutoFit/>
          </a:bodyPr>
          <a:lstStyle/>
          <a:p>
            <a:pPr algn="ctr"/>
            <a:r>
              <a:rPr sz="2700" b="1" i="0" u="none">
                <a:solidFill>
                  <a:srgbClr val="004B82"/>
                </a:solidFill>
                <a:latin typeface="Times New Roman"/>
              </a:rPr>
              <a:t>↶</a:t>
            </a:r>
          </a:p>
        </p:txBody>
      </p:sp>
      <p:sp>
        <p:nvSpPr>
          <p:cNvPr id="14" name="TextBox 13"/>
          <p:cNvSpPr txBox="1"/>
          <p:nvPr/>
        </p:nvSpPr>
        <p:spPr>
          <a:xfrm>
            <a:off x="11155680" y="6016752"/>
            <a:ext cx="457200" cy="274320"/>
          </a:xfrm>
          <a:prstGeom prst="rect">
            <a:avLst/>
          </a:prstGeom>
          <a:noFill/>
        </p:spPr>
        <p:txBody>
          <a:bodyPr wrap="square" lIns="27432" tIns="9144" rIns="27432" bIns="9144" anchor="t">
            <a:spAutoFit/>
          </a:bodyPr>
          <a:lstStyle/>
          <a:p>
            <a:pPr algn="r"/>
            <a:r>
              <a:rPr sz="1400" b="0" i="0" u="none">
                <a:solidFill>
                  <a:srgbClr val="737373"/>
                </a:solidFill>
                <a:latin typeface="Times New Roman"/>
              </a:rPr>
              <a:t>7</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6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0040" y="-219456"/>
            <a:ext cx="2331720" cy="1143000"/>
          </a:xfrm>
          <a:prstGeom prst="ellipse">
            <a:avLst/>
          </a:prstGeom>
          <a:solidFill>
            <a:srgbClr val="C4EB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274320"/>
            <a:ext cx="1554480" cy="182880"/>
          </a:xfrm>
          <a:prstGeom prst="rect">
            <a:avLst/>
          </a:prstGeom>
          <a:noFill/>
        </p:spPr>
        <p:txBody>
          <a:bodyPr wrap="square" lIns="27432" tIns="9144" rIns="27432" bIns="9144" anchor="t">
            <a:spAutoFit/>
          </a:bodyPr>
          <a:lstStyle/>
          <a:p>
            <a:pPr algn="l"/>
            <a:r>
              <a:rPr sz="800" b="1" i="0" u="none">
                <a:solidFill>
                  <a:srgbClr val="005A82"/>
                </a:solidFill>
                <a:latin typeface="Times New Roman"/>
              </a:rPr>
              <a:t>CANTHO UNIVERSITY</a:t>
            </a:r>
          </a:p>
        </p:txBody>
      </p:sp>
      <p:sp>
        <p:nvSpPr>
          <p:cNvPr id="5" name="Rectangle 4"/>
          <p:cNvSpPr/>
          <p:nvPr/>
        </p:nvSpPr>
        <p:spPr>
          <a:xfrm>
            <a:off x="2148840" y="393192"/>
            <a:ext cx="9921240" cy="82296"/>
          </a:xfrm>
          <a:prstGeom prst="rect">
            <a:avLst/>
          </a:prstGeom>
          <a:solidFill>
            <a:srgbClr val="006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 y="283464"/>
            <a:ext cx="1737360" cy="182880"/>
          </a:xfrm>
          <a:prstGeom prst="rect">
            <a:avLst/>
          </a:prstGeom>
          <a:noFill/>
        </p:spPr>
        <p:txBody>
          <a:bodyPr wrap="square" lIns="27432" tIns="9144" rIns="27432" bIns="9144" anchor="t">
            <a:spAutoFit/>
          </a:bodyPr>
          <a:lstStyle/>
          <a:p>
            <a:pPr algn="l"/>
            <a:r>
              <a:rPr sz="800" b="1" i="0" u="none">
                <a:solidFill>
                  <a:srgbClr val="005A82"/>
                </a:solidFill>
                <a:latin typeface="Times New Roman"/>
              </a:rPr>
              <a:t>CANTHO UNIVERSITY</a:t>
            </a:r>
          </a:p>
        </p:txBody>
      </p:sp>
      <p:sp>
        <p:nvSpPr>
          <p:cNvPr id="7" name="TextBox 6"/>
          <p:cNvSpPr txBox="1"/>
          <p:nvPr/>
        </p:nvSpPr>
        <p:spPr>
          <a:xfrm>
            <a:off x="566928" y="713232"/>
            <a:ext cx="10972800" cy="566928"/>
          </a:xfrm>
          <a:prstGeom prst="rect">
            <a:avLst/>
          </a:prstGeom>
          <a:noFill/>
        </p:spPr>
        <p:txBody>
          <a:bodyPr wrap="square" lIns="27432" tIns="9144" rIns="27432" bIns="9144" anchor="t">
            <a:spAutoFit/>
          </a:bodyPr>
          <a:lstStyle/>
          <a:p>
            <a:pPr algn="l"/>
            <a:r>
              <a:rPr sz="2900" b="1" i="0" u="none">
                <a:solidFill>
                  <a:srgbClr val="996633"/>
                </a:solidFill>
                <a:latin typeface="Times New Roman"/>
              </a:rPr>
              <a:t>Ví dụ minh chứng một vấn đề</a:t>
            </a:r>
          </a:p>
        </p:txBody>
      </p:sp>
      <p:sp>
        <p:nvSpPr>
          <p:cNvPr id="8" name="TextBox 7"/>
          <p:cNvSpPr txBox="1"/>
          <p:nvPr/>
        </p:nvSpPr>
        <p:spPr>
          <a:xfrm>
            <a:off x="11155680" y="6016752"/>
            <a:ext cx="457200" cy="274320"/>
          </a:xfrm>
          <a:prstGeom prst="rect">
            <a:avLst/>
          </a:prstGeom>
          <a:noFill/>
        </p:spPr>
        <p:txBody>
          <a:bodyPr wrap="square" lIns="27432" tIns="9144" rIns="27432" bIns="9144" anchor="t">
            <a:spAutoFit/>
          </a:bodyPr>
          <a:lstStyle/>
          <a:p>
            <a:pPr algn="r"/>
            <a:r>
              <a:rPr sz="1400" b="0" i="0" u="none">
                <a:solidFill>
                  <a:srgbClr val="737373"/>
                </a:solidFill>
                <a:latin typeface="Times New Roman"/>
              </a:rPr>
              <a:t>8</a:t>
            </a:r>
          </a:p>
        </p:txBody>
      </p:sp>
      <p:sp>
        <p:nvSpPr>
          <p:cNvPr id="9" name="TextBox 8"/>
          <p:cNvSpPr txBox="1"/>
          <p:nvPr/>
        </p:nvSpPr>
        <p:spPr>
          <a:xfrm>
            <a:off x="713232" y="1325880"/>
            <a:ext cx="256032" cy="365760"/>
          </a:xfrm>
          <a:prstGeom prst="rect">
            <a:avLst/>
          </a:prstGeom>
          <a:noFill/>
        </p:spPr>
        <p:txBody>
          <a:bodyPr wrap="square" lIns="27432" tIns="9144" rIns="27432" bIns="9144" anchor="t">
            <a:spAutoFit/>
          </a:bodyPr>
          <a:lstStyle/>
          <a:p>
            <a:pPr algn="ctr"/>
            <a:r>
              <a:rPr sz="1800" b="0" i="0" u="none">
                <a:solidFill>
                  <a:srgbClr val="000000"/>
                </a:solidFill>
                <a:latin typeface="Times New Roman"/>
              </a:rPr>
              <a:t>•</a:t>
            </a:r>
          </a:p>
        </p:txBody>
      </p:sp>
      <p:sp>
        <p:nvSpPr>
          <p:cNvPr id="10" name="TextBox 9"/>
          <p:cNvSpPr txBox="1"/>
          <p:nvPr/>
        </p:nvSpPr>
        <p:spPr>
          <a:xfrm>
            <a:off x="987552" y="1325880"/>
            <a:ext cx="9052559" cy="365760"/>
          </a:xfrm>
          <a:prstGeom prst="rect">
            <a:avLst/>
          </a:prstGeom>
          <a:noFill/>
        </p:spPr>
        <p:txBody>
          <a:bodyPr wrap="square" lIns="27432" tIns="9144" rIns="27432" bIns="9144" anchor="t">
            <a:spAutoFit/>
          </a:bodyPr>
          <a:lstStyle/>
          <a:p>
            <a:pPr algn="l"/>
            <a:r>
              <a:rPr sz="1800" b="0" i="0" u="none">
                <a:solidFill>
                  <a:srgbClr val="000000"/>
                </a:solidFill>
                <a:latin typeface="Times New Roman"/>
              </a:rPr>
              <a:t>Bảng thống kê kết quả tuyển sinh 2020</a:t>
            </a:r>
          </a:p>
        </p:txBody>
      </p:sp>
      <p:graphicFrame>
        <p:nvGraphicFramePr>
          <p:cNvPr id="11" name="Table 10"/>
          <p:cNvGraphicFramePr>
            <a:graphicFrameLocks noGrp="1"/>
          </p:cNvGraphicFramePr>
          <p:nvPr>
            <p:extLst>
              <p:ext uri="{D42A27DB-BD31-4B8C-83A1-F6EECF244321}">
                <p14:modId xmlns:p14="http://schemas.microsoft.com/office/powerpoint/2010/main" val="3168982791"/>
              </p:ext>
            </p:extLst>
          </p:nvPr>
        </p:nvGraphicFramePr>
        <p:xfrm>
          <a:off x="1417320" y="1737360"/>
          <a:ext cx="8412480" cy="3566160"/>
        </p:xfrm>
        <a:graphic>
          <a:graphicData uri="http://schemas.openxmlformats.org/drawingml/2006/table">
            <a:tbl>
              <a:tblPr firstRow="1" bandRow="1">
                <a:tableStyleId>{5C22544A-7EE6-4342-B048-85BDC9FD1C3A}</a:tableStyleId>
              </a:tblPr>
              <a:tblGrid>
                <a:gridCol w="5715000"/>
                <a:gridCol w="2697480"/>
              </a:tblGrid>
              <a:tr h="356616">
                <a:tc>
                  <a:txBody>
                    <a:bodyPr/>
                    <a:lstStyle/>
                    <a:p>
                      <a:pPr algn="l"/>
                      <a:r>
                        <a:rPr sz="1300" b="1">
                          <a:solidFill>
                            <a:srgbClr val="000000"/>
                          </a:solidFill>
                          <a:latin typeface="Times New Roman"/>
                        </a:rPr>
                        <a:t>Tên ngành/chuyên ngành</a:t>
                      </a:r>
                    </a:p>
                  </a:txBody>
                  <a:tcPr marL="73152" marR="73152">
                    <a:noFill/>
                  </a:tcPr>
                </a:tc>
                <a:tc>
                  <a:txBody>
                    <a:bodyPr/>
                    <a:lstStyle/>
                    <a:p>
                      <a:pPr algn="r"/>
                      <a:r>
                        <a:rPr sz="1300" b="1">
                          <a:solidFill>
                            <a:srgbClr val="000000"/>
                          </a:solidFill>
                          <a:latin typeface="Times New Roman"/>
                        </a:rPr>
                        <a:t>Số lượng tuyển sinh</a:t>
                      </a:r>
                    </a:p>
                  </a:txBody>
                  <a:tcPr marL="73152" marR="73152">
                    <a:noFill/>
                  </a:tcPr>
                </a:tc>
              </a:tr>
              <a:tr h="356616">
                <a:tc>
                  <a:txBody>
                    <a:bodyPr/>
                    <a:lstStyle/>
                    <a:p>
                      <a:pPr algn="l"/>
                      <a:r>
                        <a:rPr sz="1300" b="0">
                          <a:solidFill>
                            <a:srgbClr val="000000"/>
                          </a:solidFill>
                          <a:latin typeface="Times New Roman"/>
                        </a:rPr>
                        <a:t>Công nghệ thông tin</a:t>
                      </a:r>
                    </a:p>
                  </a:txBody>
                  <a:tcPr marL="73152" marR="73152">
                    <a:noFill/>
                  </a:tcPr>
                </a:tc>
                <a:tc>
                  <a:txBody>
                    <a:bodyPr/>
                    <a:lstStyle/>
                    <a:p>
                      <a:pPr algn="r"/>
                      <a:r>
                        <a:rPr sz="1300" b="0">
                          <a:solidFill>
                            <a:srgbClr val="000000"/>
                          </a:solidFill>
                          <a:latin typeface="Times New Roman"/>
                        </a:rPr>
                        <a:t>272</a:t>
                      </a:r>
                    </a:p>
                  </a:txBody>
                  <a:tcPr marL="73152" marR="73152">
                    <a:noFill/>
                  </a:tcPr>
                </a:tc>
              </a:tr>
              <a:tr h="356616">
                <a:tc>
                  <a:txBody>
                    <a:bodyPr/>
                    <a:lstStyle/>
                    <a:p>
                      <a:pPr algn="l"/>
                      <a:r>
                        <a:rPr sz="1300" b="0">
                          <a:solidFill>
                            <a:srgbClr val="000000"/>
                          </a:solidFill>
                          <a:latin typeface="Times New Roman"/>
                        </a:rPr>
                        <a:t>Công nghệ thông tin - CLC</a:t>
                      </a:r>
                    </a:p>
                  </a:txBody>
                  <a:tcPr marL="73152" marR="73152">
                    <a:noFill/>
                  </a:tcPr>
                </a:tc>
                <a:tc>
                  <a:txBody>
                    <a:bodyPr/>
                    <a:lstStyle/>
                    <a:p>
                      <a:pPr algn="r"/>
                      <a:r>
                        <a:rPr sz="1300" b="0">
                          <a:solidFill>
                            <a:srgbClr val="000000"/>
                          </a:solidFill>
                          <a:latin typeface="Times New Roman"/>
                        </a:rPr>
                        <a:t>144</a:t>
                      </a:r>
                    </a:p>
                  </a:txBody>
                  <a:tcPr marL="73152" marR="73152">
                    <a:noFill/>
                  </a:tcPr>
                </a:tc>
              </a:tr>
              <a:tr h="356616">
                <a:tc>
                  <a:txBody>
                    <a:bodyPr/>
                    <a:lstStyle/>
                    <a:p>
                      <a:pPr algn="l"/>
                      <a:r>
                        <a:rPr sz="1300" b="0">
                          <a:solidFill>
                            <a:srgbClr val="000000"/>
                          </a:solidFill>
                          <a:latin typeface="Times New Roman"/>
                        </a:rPr>
                        <a:t>Công nghệ thông tin - </a:t>
                      </a:r>
                      <a:r>
                        <a:rPr sz="1300" b="0" smtClean="0">
                          <a:solidFill>
                            <a:srgbClr val="000000"/>
                          </a:solidFill>
                          <a:latin typeface="Times New Roman"/>
                        </a:rPr>
                        <a:t>H</a:t>
                      </a:r>
                      <a:r>
                        <a:rPr lang="en-US" sz="1300" b="0" smtClean="0">
                          <a:solidFill>
                            <a:srgbClr val="000000"/>
                          </a:solidFill>
                          <a:latin typeface="Times New Roman"/>
                        </a:rPr>
                        <a:t>A</a:t>
                      </a:r>
                      <a:endParaRPr sz="1300" b="0">
                        <a:solidFill>
                          <a:srgbClr val="000000"/>
                        </a:solidFill>
                        <a:latin typeface="Times New Roman"/>
                      </a:endParaRPr>
                    </a:p>
                  </a:txBody>
                  <a:tcPr marL="73152" marR="73152">
                    <a:noFill/>
                  </a:tcPr>
                </a:tc>
                <a:tc>
                  <a:txBody>
                    <a:bodyPr/>
                    <a:lstStyle/>
                    <a:p>
                      <a:pPr algn="r"/>
                      <a:r>
                        <a:rPr sz="1300" b="0">
                          <a:solidFill>
                            <a:srgbClr val="000000"/>
                          </a:solidFill>
                          <a:latin typeface="Times New Roman"/>
                        </a:rPr>
                        <a:t>75</a:t>
                      </a:r>
                    </a:p>
                  </a:txBody>
                  <a:tcPr marL="73152" marR="73152">
                    <a:noFill/>
                  </a:tcPr>
                </a:tc>
              </a:tr>
              <a:tr h="356616">
                <a:tc>
                  <a:txBody>
                    <a:bodyPr/>
                    <a:lstStyle/>
                    <a:p>
                      <a:pPr algn="l"/>
                      <a:r>
                        <a:rPr sz="1300" b="0">
                          <a:solidFill>
                            <a:srgbClr val="000000"/>
                          </a:solidFill>
                          <a:latin typeface="Times New Roman"/>
                        </a:rPr>
                        <a:t>Mạng máy tính và truyền thông dữ liệu</a:t>
                      </a:r>
                    </a:p>
                  </a:txBody>
                  <a:tcPr marL="73152" marR="73152">
                    <a:noFill/>
                  </a:tcPr>
                </a:tc>
                <a:tc>
                  <a:txBody>
                    <a:bodyPr/>
                    <a:lstStyle/>
                    <a:p>
                      <a:pPr algn="r"/>
                      <a:r>
                        <a:rPr sz="1300" b="0">
                          <a:solidFill>
                            <a:srgbClr val="000000"/>
                          </a:solidFill>
                          <a:latin typeface="Times New Roman"/>
                        </a:rPr>
                        <a:t>149</a:t>
                      </a:r>
                    </a:p>
                  </a:txBody>
                  <a:tcPr marL="73152" marR="73152">
                    <a:noFill/>
                  </a:tcPr>
                </a:tc>
              </a:tr>
              <a:tr h="356616">
                <a:tc>
                  <a:txBody>
                    <a:bodyPr/>
                    <a:lstStyle/>
                    <a:p>
                      <a:pPr algn="l"/>
                      <a:r>
                        <a:rPr sz="1300" b="0">
                          <a:solidFill>
                            <a:srgbClr val="000000"/>
                          </a:solidFill>
                          <a:latin typeface="Times New Roman"/>
                        </a:rPr>
                        <a:t>Kỹ thuật phần mềm</a:t>
                      </a:r>
                    </a:p>
                  </a:txBody>
                  <a:tcPr marL="73152" marR="73152">
                    <a:noFill/>
                  </a:tcPr>
                </a:tc>
                <a:tc>
                  <a:txBody>
                    <a:bodyPr/>
                    <a:lstStyle/>
                    <a:p>
                      <a:pPr algn="r"/>
                      <a:r>
                        <a:rPr sz="1300" b="0">
                          <a:solidFill>
                            <a:srgbClr val="000000"/>
                          </a:solidFill>
                          <a:latin typeface="Times New Roman"/>
                        </a:rPr>
                        <a:t>266</a:t>
                      </a:r>
                    </a:p>
                  </a:txBody>
                  <a:tcPr marL="73152" marR="73152">
                    <a:noFill/>
                  </a:tcPr>
                </a:tc>
              </a:tr>
              <a:tr h="356616">
                <a:tc>
                  <a:txBody>
                    <a:bodyPr/>
                    <a:lstStyle/>
                    <a:p>
                      <a:pPr algn="l"/>
                      <a:r>
                        <a:rPr sz="1300" b="0">
                          <a:solidFill>
                            <a:srgbClr val="000000"/>
                          </a:solidFill>
                          <a:latin typeface="Times New Roman"/>
                        </a:rPr>
                        <a:t>Hệ thống thông tin</a:t>
                      </a:r>
                    </a:p>
                  </a:txBody>
                  <a:tcPr marL="73152" marR="73152">
                    <a:noFill/>
                  </a:tcPr>
                </a:tc>
                <a:tc>
                  <a:txBody>
                    <a:bodyPr/>
                    <a:lstStyle/>
                    <a:p>
                      <a:pPr algn="r"/>
                      <a:r>
                        <a:rPr sz="1300" b="0">
                          <a:solidFill>
                            <a:srgbClr val="000000"/>
                          </a:solidFill>
                          <a:latin typeface="Times New Roman"/>
                        </a:rPr>
                        <a:t>135</a:t>
                      </a:r>
                    </a:p>
                  </a:txBody>
                  <a:tcPr marL="73152" marR="73152">
                    <a:noFill/>
                  </a:tcPr>
                </a:tc>
              </a:tr>
              <a:tr h="356616">
                <a:tc>
                  <a:txBody>
                    <a:bodyPr/>
                    <a:lstStyle/>
                    <a:p>
                      <a:pPr algn="l"/>
                      <a:r>
                        <a:rPr sz="1300" b="0">
                          <a:solidFill>
                            <a:srgbClr val="000000"/>
                          </a:solidFill>
                          <a:latin typeface="Times New Roman"/>
                        </a:rPr>
                        <a:t>Khoa học máy tính</a:t>
                      </a:r>
                    </a:p>
                  </a:txBody>
                  <a:tcPr marL="73152" marR="73152">
                    <a:noFill/>
                  </a:tcPr>
                </a:tc>
                <a:tc>
                  <a:txBody>
                    <a:bodyPr/>
                    <a:lstStyle/>
                    <a:p>
                      <a:pPr algn="r"/>
                      <a:r>
                        <a:rPr sz="1300" b="0">
                          <a:solidFill>
                            <a:srgbClr val="000000"/>
                          </a:solidFill>
                          <a:latin typeface="Times New Roman"/>
                        </a:rPr>
                        <a:t>178</a:t>
                      </a:r>
                    </a:p>
                  </a:txBody>
                  <a:tcPr marL="73152" marR="73152">
                    <a:noFill/>
                  </a:tcPr>
                </a:tc>
              </a:tr>
              <a:tr h="356616">
                <a:tc>
                  <a:txBody>
                    <a:bodyPr/>
                    <a:lstStyle/>
                    <a:p>
                      <a:pPr algn="l"/>
                      <a:r>
                        <a:rPr sz="1300" b="0">
                          <a:solidFill>
                            <a:srgbClr val="000000"/>
                          </a:solidFill>
                          <a:latin typeface="Times New Roman"/>
                        </a:rPr>
                        <a:t>Tin học Ứng dụng</a:t>
                      </a:r>
                    </a:p>
                  </a:txBody>
                  <a:tcPr marL="73152" marR="73152">
                    <a:noFill/>
                  </a:tcPr>
                </a:tc>
                <a:tc>
                  <a:txBody>
                    <a:bodyPr/>
                    <a:lstStyle/>
                    <a:p>
                      <a:pPr algn="r"/>
                      <a:r>
                        <a:rPr sz="1300" b="0">
                          <a:solidFill>
                            <a:srgbClr val="000000"/>
                          </a:solidFill>
                          <a:latin typeface="Times New Roman"/>
                        </a:rPr>
                        <a:t>32</a:t>
                      </a:r>
                    </a:p>
                  </a:txBody>
                  <a:tcPr marL="73152" marR="73152">
                    <a:noFill/>
                  </a:tcPr>
                </a:tc>
              </a:tr>
              <a:tr h="356616">
                <a:tc>
                  <a:txBody>
                    <a:bodyPr/>
                    <a:lstStyle/>
                    <a:p>
                      <a:pPr algn="l"/>
                      <a:r>
                        <a:rPr sz="1300" b="1">
                          <a:solidFill>
                            <a:srgbClr val="000000"/>
                          </a:solidFill>
                          <a:latin typeface="Times New Roman"/>
                        </a:rPr>
                        <a:t>Tổng</a:t>
                      </a:r>
                    </a:p>
                  </a:txBody>
                  <a:tcPr marL="73152" marR="73152">
                    <a:noFill/>
                  </a:tcPr>
                </a:tc>
                <a:tc>
                  <a:txBody>
                    <a:bodyPr/>
                    <a:lstStyle/>
                    <a:p>
                      <a:pPr algn="r"/>
                      <a:r>
                        <a:rPr sz="1300" b="1">
                          <a:solidFill>
                            <a:srgbClr val="000000"/>
                          </a:solidFill>
                          <a:latin typeface="Times New Roman"/>
                        </a:rPr>
                        <a:t>1251</a:t>
                      </a:r>
                    </a:p>
                  </a:txBody>
                  <a:tcPr marL="73152" marR="73152">
                    <a:noFill/>
                  </a:tcPr>
                </a:tc>
              </a:tr>
            </a:tbl>
          </a:graphicData>
        </a:graphic>
      </p:graphicFrame>
      <p:sp>
        <p:nvSpPr>
          <p:cNvPr id="12" name="Rounded Rectangle 11">
            <a:hlinkClick r:id="rId3" action="ppaction://hlinksldjump"/>
          </p:cNvPr>
          <p:cNvSpPr/>
          <p:nvPr/>
        </p:nvSpPr>
        <p:spPr>
          <a:xfrm>
            <a:off x="10195560" y="1353312"/>
            <a:ext cx="731520" cy="530352"/>
          </a:xfrm>
          <a:prstGeom prst="roundRect">
            <a:avLst/>
          </a:prstGeom>
          <a:solidFill>
            <a:srgbClr val="4897CC"/>
          </a:solidFill>
          <a:ln>
            <a:solidFill>
              <a:srgbClr val="2A7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hlinkClick r:id="rId3" action="ppaction://hlinksldjump"/>
          </p:cNvPr>
          <p:cNvSpPr txBox="1"/>
          <p:nvPr/>
        </p:nvSpPr>
        <p:spPr>
          <a:xfrm>
            <a:off x="10241280" y="1353312"/>
            <a:ext cx="621792" cy="512064"/>
          </a:xfrm>
          <a:prstGeom prst="rect">
            <a:avLst/>
          </a:prstGeom>
          <a:noFill/>
        </p:spPr>
        <p:txBody>
          <a:bodyPr wrap="square" lIns="0" tIns="9144" rIns="0" bIns="9144" anchor="ctr">
            <a:spAutoFit/>
          </a:bodyPr>
          <a:lstStyle/>
          <a:p>
            <a:pPr algn="ctr"/>
            <a:r>
              <a:rPr sz="2500" b="1" i="0" u="none">
                <a:solidFill>
                  <a:srgbClr val="004B82"/>
                </a:solidFill>
                <a:latin typeface="Times New Roman"/>
              </a:rPr>
              <a:t>↶</a:t>
            </a:r>
          </a:p>
        </p:txBody>
      </p:sp>
      <p:sp>
        <p:nvSpPr>
          <p:cNvPr id="14" name="TextBox 13"/>
          <p:cNvSpPr txBox="1"/>
          <p:nvPr/>
        </p:nvSpPr>
        <p:spPr>
          <a:xfrm>
            <a:off x="11155680" y="6016752"/>
            <a:ext cx="457200" cy="274320"/>
          </a:xfrm>
          <a:prstGeom prst="rect">
            <a:avLst/>
          </a:prstGeom>
          <a:noFill/>
        </p:spPr>
        <p:txBody>
          <a:bodyPr wrap="square" lIns="27432" tIns="9144" rIns="27432" bIns="9144" anchor="t">
            <a:spAutoFit/>
          </a:bodyPr>
          <a:lstStyle/>
          <a:p>
            <a:pPr algn="r"/>
            <a:r>
              <a:rPr sz="1400" b="0" i="0" u="none">
                <a:solidFill>
                  <a:srgbClr val="737373"/>
                </a:solidFill>
                <a:latin typeface="Times New Roman"/>
              </a:rPr>
              <a:t>8</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TotalTime>
  <Words>426</Words>
  <Application>Microsoft Office PowerPoint</Application>
  <PresentationFormat>Widescreen</PresentationFormat>
  <Paragraphs>106</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student</cp:lastModifiedBy>
  <cp:revision>2</cp:revision>
  <dcterms:created xsi:type="dcterms:W3CDTF">2013-01-27T09:14:16Z</dcterms:created>
  <dcterms:modified xsi:type="dcterms:W3CDTF">2026-10-09T00:22:08Z</dcterms:modified>
  <cp:category/>
</cp:coreProperties>
</file>